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541411209846a4" /><Relationship Type="http://schemas.openxmlformats.org/officeDocument/2006/relationships/extended-properties" Target="/docProps/app.xml" Id="R5a840ed94980488e" /><Relationship Type="http://schemas.openxmlformats.org/officeDocument/2006/relationships/officeDocument" Target="/ppt/presentation.xml" Id="Rc7b927bd00ff49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61ef3d79d4029"/>
  </p:sldMasterIdLst>
  <p:notesMasterIdLst>
    <p:notesMasterId xmlns:r="http://schemas.openxmlformats.org/officeDocument/2006/relationships" r:id="Rbc79bf588d4745f8"/>
  </p:notesMasterIdLst>
  <p:sldIdLst>
    <p:sldId xmlns:r="http://schemas.openxmlformats.org/officeDocument/2006/relationships" id="256" r:id="R95580589a9834cd4"/>
    <p:sldId xmlns:r="http://schemas.openxmlformats.org/officeDocument/2006/relationships" id="257" r:id="Rc38b9989d4354d10"/>
    <p:sldId xmlns:r="http://schemas.openxmlformats.org/officeDocument/2006/relationships" id="258" r:id="R006a5c1de623403c"/>
    <p:sldId xmlns:r="http://schemas.openxmlformats.org/officeDocument/2006/relationships" id="259" r:id="R2ac33f26006a418a"/>
    <p:sldId xmlns:r="http://schemas.openxmlformats.org/officeDocument/2006/relationships" id="260" r:id="Ra17ce47e8c1b468d"/>
    <p:sldId xmlns:r="http://schemas.openxmlformats.org/officeDocument/2006/relationships" id="261" r:id="R05f00ac6a06f470a"/>
    <p:sldId xmlns:r="http://schemas.openxmlformats.org/officeDocument/2006/relationships" id="262" r:id="R7e8e9b34387145bf"/>
    <p:sldId xmlns:r="http://schemas.openxmlformats.org/officeDocument/2006/relationships" id="263" r:id="R27822b7368ba4bb4"/>
    <p:sldId xmlns:r="http://schemas.openxmlformats.org/officeDocument/2006/relationships" id="264" r:id="R6bc1b4de94a441de"/>
    <p:sldId xmlns:r="http://schemas.openxmlformats.org/officeDocument/2006/relationships" id="265" r:id="Rc7969b16a1fd40f9"/>
    <p:sldId xmlns:r="http://schemas.openxmlformats.org/officeDocument/2006/relationships" id="266" r:id="Rfd38e193d4b04753"/>
    <p:sldId xmlns:r="http://schemas.openxmlformats.org/officeDocument/2006/relationships" id="267" r:id="R0e115bedfbf34e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252a6d2914b12" /><Relationship Type="http://schemas.openxmlformats.org/officeDocument/2006/relationships/slideMaster" Target="/ppt/slideMasters/slideMaster1.xml" Id="R20a61ef3d79d4029" /><Relationship Type="http://schemas.openxmlformats.org/officeDocument/2006/relationships/notesMaster" Target="/ppt/notesMasters/notesMaster1.xml" Id="Rbc79bf588d4745f8" /><Relationship Type="http://schemas.openxmlformats.org/officeDocument/2006/relationships/presProps" Target="/ppt/presProps.xml" Id="R9ee8a7b23de14aba" /><Relationship Type="http://schemas.openxmlformats.org/officeDocument/2006/relationships/tableStyles" Target="/ppt/tableStyles.xml" Id="R745498d3f991418b" /><Relationship Type="http://schemas.openxmlformats.org/officeDocument/2006/relationships/slide" Target="/ppt/slides/slide1.xml" Id="R95580589a9834cd4" /><Relationship Type="http://schemas.openxmlformats.org/officeDocument/2006/relationships/slide" Target="/ppt/slides/slide2.xml" Id="Rc38b9989d4354d10" /><Relationship Type="http://schemas.openxmlformats.org/officeDocument/2006/relationships/slide" Target="/ppt/slides/slide3.xml" Id="R006a5c1de623403c" /><Relationship Type="http://schemas.openxmlformats.org/officeDocument/2006/relationships/slide" Target="/ppt/slides/slide4.xml" Id="R2ac33f26006a418a" /><Relationship Type="http://schemas.openxmlformats.org/officeDocument/2006/relationships/slide" Target="/ppt/slides/slide5.xml" Id="Ra17ce47e8c1b468d" /><Relationship Type="http://schemas.openxmlformats.org/officeDocument/2006/relationships/slide" Target="/ppt/slides/slide6.xml" Id="R05f00ac6a06f470a" /><Relationship Type="http://schemas.openxmlformats.org/officeDocument/2006/relationships/slide" Target="/ppt/slides/slide7.xml" Id="R7e8e9b34387145bf" /><Relationship Type="http://schemas.openxmlformats.org/officeDocument/2006/relationships/slide" Target="/ppt/slides/slide8.xml" Id="R27822b7368ba4bb4" /><Relationship Type="http://schemas.openxmlformats.org/officeDocument/2006/relationships/slide" Target="/ppt/slides/slide9.xml" Id="R6bc1b4de94a441de" /><Relationship Type="http://schemas.openxmlformats.org/officeDocument/2006/relationships/slide" Target="/ppt/slides/slide10.xml" Id="Rc7969b16a1fd40f9" /><Relationship Type="http://schemas.openxmlformats.org/officeDocument/2006/relationships/slide" Target="/ppt/slides/slide11.xml" Id="Rfd38e193d4b04753" /><Relationship Type="http://schemas.openxmlformats.org/officeDocument/2006/relationships/slide" Target="/ppt/slides/slide12.xml" Id="R0e115bedfbf3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7c2e443c1449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395ab1b3b46b4" /><Relationship Type="http://schemas.openxmlformats.org/officeDocument/2006/relationships/notesMaster" Target="/ppt/notesMasters/notesMaster1.xml" Id="Rdbf936ac6102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200fad80f64a9d" /><Relationship Type="http://schemas.openxmlformats.org/officeDocument/2006/relationships/notesMaster" Target="/ppt/notesMasters/notesMaster1.xml" Id="R30f2c03b9ab3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1d2d711f943ff" /><Relationship Type="http://schemas.openxmlformats.org/officeDocument/2006/relationships/notesMaster" Target="/ppt/notesMasters/notesMaster1.xml" Id="Rcba278b6c9d847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ee27315ce4f36" /><Relationship Type="http://schemas.openxmlformats.org/officeDocument/2006/relationships/notesMaster" Target="/ppt/notesMasters/notesMaster1.xml" Id="R6e661c3980da42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03dd989074e43" /><Relationship Type="http://schemas.openxmlformats.org/officeDocument/2006/relationships/notesMaster" Target="/ppt/notesMasters/notesMaster1.xml" Id="R385afeebc9aa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71682092af4ea3" /><Relationship Type="http://schemas.openxmlformats.org/officeDocument/2006/relationships/notesMaster" Target="/ppt/notesMasters/notesMaster1.xml" Id="R269258e758784f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6fec6a5c3b42c0" /><Relationship Type="http://schemas.openxmlformats.org/officeDocument/2006/relationships/notesMaster" Target="/ppt/notesMasters/notesMaster1.xml" Id="Rb80546ebd1b447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9121b2f8dd40c3" /><Relationship Type="http://schemas.openxmlformats.org/officeDocument/2006/relationships/notesMaster" Target="/ppt/notesMasters/notesMaster1.xml" Id="R1a92993fb20e4d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a651ab6bb4b56" /><Relationship Type="http://schemas.openxmlformats.org/officeDocument/2006/relationships/notesMaster" Target="/ppt/notesMasters/notesMaster1.xml" Id="R2f77e5565c174b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8aa0d83f14ca5" /><Relationship Type="http://schemas.openxmlformats.org/officeDocument/2006/relationships/notesMaster" Target="/ppt/notesMasters/notesMaster1.xml" Id="R4b86444fcc984e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4579eeed4b4adc" /><Relationship Type="http://schemas.openxmlformats.org/officeDocument/2006/relationships/notesMaster" Target="/ppt/notesMasters/notesMaster1.xml" Id="R657a9cbd751941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b7316cb1a44bd2" /><Relationship Type="http://schemas.openxmlformats.org/officeDocument/2006/relationships/notesMaster" Target="/ppt/notesMasters/notesMaster1.xml" Id="R59adff412b1f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destination: we will not ask the quantum computer for 3 and 7 directly. We will ask it for a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 and visual reference.</a:t>
            </a:r>
          </a:p>
          <a:p xmlns:a="http://schemas.openxmlformats.org/drawingml/2006/main">
            <a:r>
              <a:t>- Peter W. Shor, “Algorithms for quantum computation: discrete logarithms and factoring,” FOCS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is not that multiplication changes. The difficulty lies in reversing multiplication when the factors are hidden inside a very large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slide and Shor walkthrough.</a:t>
            </a:r>
          </a:p>
          <a:p xmlns:a="http://schemas.openxmlformats.org/drawingml/2006/main">
            <a:r>
              <a:t>- Peter W. Shor, FOCS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division of labor explicit. The quantum routine estimates the period. The factor extraction before and after it is classical.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  <a:p xmlns:a="http://schemas.openxmlformats.org/drawingml/2006/main">
            <a:r>
              <a:t>- Peter W. Shor, FOCS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initial gcd were greater than 1, we would already have a factor. Because gcd(2,21)=1, this is a genuine period-finding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example from left to right. The quotient is 1 and the remainder is 11, so f(5)=11.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down the table. Rows 6 through 8 repeat rows 0 through 2. The repetition begins when f(6)=1.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values repeat after six inputs: f(0)=f(6), f(1)=f(7), and f(2)=f(8). Therefore the period is six.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conceptual view. The quantum Fourier transform concentrates probability at frequencies related to the hidden period. The classical part reconstructs r=6 from a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  <a:p xmlns:a="http://schemas.openxmlformats.org/drawingml/2006/main">
            <a:r>
              <a:t>- Peter W. Shor, FOCS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usable period must be even, and the half-period power must not collapse to plus or minus one modulo N. Both conditions 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equality after modulo: 2^6 mod 21 equals 1. Since 64=3×21+1, subtracting the remainder gives 63=21×3. The difference-of-squares identity writes that same 63 as 7×9.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candidates are 7 and 9. The shared divisor of 7 and 21 is 7. The shared divisor of 9 and 21 is 3. Those are the two prime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conceptual explanation, then open the live walkthrough at /Users/spreuss/Documents/skipp-algo/docs/demos/shor-factoring/index.html.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Shor walkthrough.</a:t>
            </a:r>
          </a:p>
          <a:p xmlns:a="http://schemas.openxmlformats.org/drawingml/2006/main">
            <a:r>
              <a:t>- Local interactive demo screenshot captured from /Users/spreuss/Documents/skipp-algo/docs/demos/shor-factoring/index.html.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6ab930a643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3c41d5bcf64852" /><Relationship Type="http://schemas.openxmlformats.org/officeDocument/2006/relationships/slideLayout" Target="/ppt/slideLayouts/slideLayout1.xml" Id="Racf5367a7976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5367a7976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ed3269b64a96" /><Relationship Type="http://schemas.openxmlformats.org/officeDocument/2006/relationships/notesSlide" Target="/ppt/notesSlides/notesSlide1.xml" Id="R638398b2a7e8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364622852460a" /><Relationship Type="http://schemas.openxmlformats.org/officeDocument/2006/relationships/notesSlide" Target="/ppt/notesSlides/notesSlide2.xml" Id="R8bb3dc627aff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cec4697e7407c" /><Relationship Type="http://schemas.openxmlformats.org/officeDocument/2006/relationships/notesSlide" Target="/ppt/notesSlides/notesSlide3.xml" Id="R7371bb17393846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7f1bc462f46a7" /><Relationship Type="http://schemas.openxmlformats.org/officeDocument/2006/relationships/notesSlide" Target="/ppt/notesSlides/notesSlide4.xml" Id="Rad827209aa4f4e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67afdfb9a4cf0" /><Relationship Type="http://schemas.openxmlformats.org/officeDocument/2006/relationships/notesSlide" Target="/ppt/notesSlides/notesSlide5.xml" Id="R5545581a370e4f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07f1a4cce482c" /><Relationship Type="http://schemas.openxmlformats.org/officeDocument/2006/relationships/notesSlide" Target="/ppt/notesSlides/notesSlide6.xml" Id="Ra2fa40c3777a4f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ed026f6fd4713" /><Relationship Type="http://schemas.openxmlformats.org/officeDocument/2006/relationships/notesSlide" Target="/ppt/notesSlides/notesSlide7.xml" Id="Rf363d8863f90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6340e7fd4c0c" /><Relationship Type="http://schemas.openxmlformats.org/officeDocument/2006/relationships/notesSlide" Target="/ppt/notesSlides/notesSlide8.xml" Id="R6b30ad1356614f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b15438f8044da" /><Relationship Type="http://schemas.openxmlformats.org/officeDocument/2006/relationships/notesSlide" Target="/ppt/notesSlides/notesSlide9.xml" Id="R524ab79e4c664e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e9479828449e2" /><Relationship Type="http://schemas.openxmlformats.org/officeDocument/2006/relationships/notesSlide" Target="/ppt/notesSlides/notesSlide10.xml" Id="R62a2d53b702a45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385e23364fc9" /><Relationship Type="http://schemas.openxmlformats.org/officeDocument/2006/relationships/notesSlide" Target="/ppt/notesSlides/notesSlide11.xml" Id="R14d83bf9753846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821bbd751485b" /><Relationship Type="http://schemas.openxmlformats.org/officeDocument/2006/relationships/image" Target="/ppt/media/image.png" Id="R4dbec863f80f433f" /><Relationship Type="http://schemas.openxmlformats.org/officeDocument/2006/relationships/hyperlink" Target="file:///Users/spreuss/Documents/skipp-algo/docs/demos/shor-factoring/index.html" TargetMode="External" Id="Rc19fafb0e57c41b9" /><Relationship Type="http://schemas.openxmlformats.org/officeDocument/2006/relationships/notesSlide" Target="/ppt/notesSlides/notesSlide12.xml" Id="Rfad137c37a85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quantum-field">
            <a:extLst xmlns:a="http://schemas.openxmlformats.org/drawingml/2006/main">
              <a:ext uri="{FF2B5EF4-FFF2-40B4-BE49-F238E27FC236}">
                <a16:creationId xmlns:a16="http://schemas.microsoft.com/office/drawing/2014/main" id="{CB807C86-C440-4561-B0D6-9F7D2D8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745"/>
          </a:solidFill>
          <a:ln xmlns:a="http://schemas.openxmlformats.org/drawingml/2006/main" w="19050">
            <a:solidFill>
              <a:srgbClr val="63A8C8"/>
            </a:solidFill>
            <a:prstDash val="solid"/>
          </a:ln>
        </p:spPr>
      </p:sp>
      <p:sp>
        <p:nvSpPr>
          <p:cNvPr id="2" name="factor-orbit-inner">
            <a:extLst xmlns:a="http://schemas.openxmlformats.org/drawingml/2006/main">
              <a:ext uri="{FF2B5EF4-FFF2-40B4-BE49-F238E27FC236}">
                <a16:creationId xmlns:a16="http://schemas.microsoft.com/office/drawing/2014/main" id="{2D3FE575-CE38-4B65-A56D-FAA9470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2495550" cy="2495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36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3" name="hero-number">
            <a:extLst xmlns:a="http://schemas.openxmlformats.org/drawingml/2006/main">
              <a:ext uri="{FF2B5EF4-FFF2-40B4-BE49-F238E27FC236}">
                <a16:creationId xmlns:a16="http://schemas.microsoft.com/office/drawing/2014/main" id="{DA6CA5F5-4E95-41D4-95C2-B1268D4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58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4" name="factor-three">
            <a:extLst xmlns:a="http://schemas.openxmlformats.org/drawingml/2006/main">
              <a:ext uri="{FF2B5EF4-FFF2-40B4-BE49-F238E27FC236}">
                <a16:creationId xmlns:a16="http://schemas.microsoft.com/office/drawing/2014/main" id="{E222DC6B-1A94-459F-A746-F735B09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478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actor-three-bg">
            <a:extLst xmlns:a="http://schemas.openxmlformats.org/drawingml/2006/main">
              <a:ext uri="{FF2B5EF4-FFF2-40B4-BE49-F238E27FC236}">
                <a16:creationId xmlns:a16="http://schemas.microsoft.com/office/drawing/2014/main" id="{A75AD2AC-63A0-43AA-BC68-8384666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47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ctor-three-front">
            <a:extLst xmlns:a="http://schemas.openxmlformats.org/drawingml/2006/main">
              <a:ext uri="{FF2B5EF4-FFF2-40B4-BE49-F238E27FC236}">
                <a16:creationId xmlns:a16="http://schemas.microsoft.com/office/drawing/2014/main" id="{E2E24F6D-0763-4D8C-85C8-44A81A1A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7" name="factor-seven-bg">
            <a:extLst xmlns:a="http://schemas.openxmlformats.org/drawingml/2006/main">
              <a:ext uri="{FF2B5EF4-FFF2-40B4-BE49-F238E27FC236}">
                <a16:creationId xmlns:a16="http://schemas.microsoft.com/office/drawing/2014/main" id="{2F532682-5137-444D-9B30-E2164FD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ctor-seven">
            <a:extLst xmlns:a="http://schemas.openxmlformats.org/drawingml/2006/main">
              <a:ext uri="{FF2B5EF4-FFF2-40B4-BE49-F238E27FC236}">
                <a16:creationId xmlns:a16="http://schemas.microsoft.com/office/drawing/2014/main" id="{ADDCCA17-D9EA-4E8B-81EF-F076802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623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9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C77393C8-DA3B-4491-9A23-11504DD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BIG IDEA · IN PLAIN WORDS</a:t>
            </a:r>
          </a:p>
        </p:txBody>
      </p:sp>
      <p:sp>
        <p:nvSpPr>
          <p:cNvPr id="10" name="deck-title">
            <a:extLst xmlns:a="http://schemas.openxmlformats.org/drawingml/2006/main">
              <a:ext uri="{FF2B5EF4-FFF2-40B4-BE49-F238E27FC236}">
                <a16:creationId xmlns:a16="http://schemas.microsoft.com/office/drawing/2014/main" id="{319A4E99-7CE4-4A8A-B269-5DC05B1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 quantum shortcut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for factoring numbers</a:t>
            </a:r>
          </a:p>
        </p:txBody>
      </p:sp>
      <p:sp>
        <p:nvSpPr>
          <p:cNvPr id="11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9A46DC8-72E8-40A1-98A9-817B856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A step-by-step walkthrough of Shor's algorithm using N = 21</a:t>
            </a:r>
          </a:p>
        </p:txBody>
      </p:sp>
      <p:sp>
        <p:nvSpPr>
          <p:cNvPr id="12" name="title-result">
            <a:extLst xmlns:a="http://schemas.openxmlformats.org/drawingml/2006/main">
              <a:ext uri="{FF2B5EF4-FFF2-40B4-BE49-F238E27FC236}">
                <a16:creationId xmlns:a16="http://schemas.microsoft.com/office/drawing/2014/main" id="{97C38C11-1AA1-4BCB-ABF5-ABFA8A1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36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21 = 3 × 7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1A149A4-E8FA-470B-A5CB-1C2D9E6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INTERACTIVE WALKTHROUGH</a:t>
            </a:r>
          </a:p>
        </p:txBody>
      </p:sp>
    </p:spTree>
    <p:extLst>
      <p:ext uri="{BB962C8B-B14F-4D97-AF65-F5344CB8AC3E}">
        <p14:creationId xmlns:p14="http://schemas.microsoft.com/office/powerpoint/2010/main" val="1548311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5C3BC5B-9585-4AA8-8AF8-A0FA0F9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7D21A-2E4A-4417-BEB1-85C49F9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Small numbers are easy. Large numbers are not.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AE5EE33A-3438-4F6C-B4C7-E422175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AE9742-D1D7-4DA5-BEC9-D91E4C9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mall-label">
            <a:extLst xmlns:a="http://schemas.openxmlformats.org/drawingml/2006/main">
              <a:ext uri="{FF2B5EF4-FFF2-40B4-BE49-F238E27FC236}">
                <a16:creationId xmlns:a16="http://schemas.microsoft.com/office/drawing/2014/main" id="{73D6E8A0-226D-48B9-8DAF-1E0620D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A familiar number</a:t>
            </a:r>
          </a:p>
        </p:txBody>
      </p:sp>
      <p:sp>
        <p:nvSpPr>
          <p:cNvPr id="6" name="small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426C7F5F-486E-4E7E-8AF2-885AE2F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7" name="small-factorization">
            <a:extLst xmlns:a="http://schemas.openxmlformats.org/drawingml/2006/main">
              <a:ext uri="{FF2B5EF4-FFF2-40B4-BE49-F238E27FC236}">
                <a16:creationId xmlns:a16="http://schemas.microsoft.com/office/drawing/2014/main" id="{9D7A471A-2876-4C47-B725-B8DFF8E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152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15 = 3 × 5</a:t>
            </a:r>
          </a:p>
        </p:txBody>
      </p:sp>
      <p:sp>
        <p:nvSpPr>
          <p:cNvPr id="8" name="small-explanation">
            <a:extLst xmlns:a="http://schemas.openxmlformats.org/drawingml/2006/main">
              <a:ext uri="{FF2B5EF4-FFF2-40B4-BE49-F238E27FC236}">
                <a16:creationId xmlns:a16="http://schemas.microsoft.com/office/drawing/2014/main" id="{41CAA38D-56B1-4794-B943-9AD462D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We can recognize the factors almost immediately.</a:t>
            </a:r>
          </a:p>
        </p:txBody>
      </p:sp>
      <p:sp>
        <p:nvSpPr>
          <p:cNvPr id="9" name="large-label">
            <a:extLst xmlns:a="http://schemas.openxmlformats.org/drawingml/2006/main">
              <a:ext uri="{FF2B5EF4-FFF2-40B4-BE49-F238E27FC236}">
                <a16:creationId xmlns:a16="http://schemas.microsoft.com/office/drawing/2014/main" id="{638502A3-72B7-4CA9-8D8B-346CCF4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A cryptographic-scale number</a:t>
            </a:r>
          </a:p>
        </p:txBody>
      </p:sp>
      <p:sp>
        <p:nvSpPr>
          <p:cNvPr id="10" name="large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A874984D-9393-499E-9729-075C68C2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11" name="large-factorization">
            <a:extLst xmlns:a="http://schemas.openxmlformats.org/drawingml/2006/main">
              <a:ext uri="{FF2B5EF4-FFF2-40B4-BE49-F238E27FC236}">
                <a16:creationId xmlns:a16="http://schemas.microsoft.com/office/drawing/2014/main" id="{F8C7D169-EABC-490E-A9AC-61F7361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64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N = ? × ?</a:t>
            </a:r>
          </a:p>
        </p:txBody>
      </p:sp>
      <p:sp>
        <p:nvSpPr>
          <p:cNvPr id="12" name="large-explanation">
            <a:extLst xmlns:a="http://schemas.openxmlformats.org/drawingml/2006/main">
              <a:ext uri="{FF2B5EF4-FFF2-40B4-BE49-F238E27FC236}">
                <a16:creationId xmlns:a16="http://schemas.microsoft.com/office/drawing/2014/main" id="{B3687DC6-2F25-4A3A-BDC9-96FE5A98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arithmetic is the same—but searching for the factors becomes the bottleneck.</a:t>
            </a:r>
          </a:p>
        </p:txBody>
      </p:sp>
      <p:sp>
        <p:nvSpPr>
          <p:cNvPr id="13" name="rule-626-202">
            <a:extLst xmlns:a="http://schemas.openxmlformats.org/drawingml/2006/main">
              <a:ext uri="{FF2B5EF4-FFF2-40B4-BE49-F238E27FC236}">
                <a16:creationId xmlns:a16="http://schemas.microsoft.com/office/drawing/2014/main" id="{FED5638A-E0A0-4A57-AE7C-48C68DE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llenge-takeaway">
            <a:extLst xmlns:a="http://schemas.openxmlformats.org/drawingml/2006/main">
              <a:ext uri="{FF2B5EF4-FFF2-40B4-BE49-F238E27FC236}">
                <a16:creationId xmlns:a16="http://schemas.microsoft.com/office/drawing/2014/main" id="{2B74EDBE-91BC-42B2-8A0F-E8652E0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Shor's insight: solve a different problem that exposes the factors.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4013E047-607F-4C10-B176-963F0A5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494007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8A33E7F-BB80-4060-BA3C-5F4F96D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REFRAME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48960-8EC6-4186-B83D-AA4D9A5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Shor turns factoring into period finding.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62EFE1B5-B197-4B8F-AC78-A215C38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23A6DA-5C45-4357-8591-C1BD18A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period-finding-job-background">
            <a:extLst xmlns:a="http://schemas.openxmlformats.org/drawingml/2006/main">
              <a:ext uri="{FF2B5EF4-FFF2-40B4-BE49-F238E27FC236}">
                <a16:creationId xmlns:a16="http://schemas.microsoft.com/office/drawing/2014/main" id="{8AFC4C1E-A69C-4557-8FD8-3877759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952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-finding-job">
            <a:extLst xmlns:a="http://schemas.openxmlformats.org/drawingml/2006/main">
              <a:ext uri="{FF2B5EF4-FFF2-40B4-BE49-F238E27FC236}">
                <a16:creationId xmlns:a16="http://schemas.microsoft.com/office/drawing/2014/main" id="{31C50A63-655B-4B53-B48C-435FBAB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62150"/>
            <a:ext cx="910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36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Find the period of  aˣ  mod  N</a:t>
            </a:r>
          </a:p>
        </p:txBody>
      </p:sp>
      <p:sp>
        <p:nvSpPr>
          <p:cNvPr id="7" name="classical-one">
            <a:extLst xmlns:a="http://schemas.openxmlformats.org/drawingml/2006/main">
              <a:ext uri="{FF2B5EF4-FFF2-40B4-BE49-F238E27FC236}">
                <a16:creationId xmlns:a16="http://schemas.microsoft.com/office/drawing/2014/main" id="{91E2B2B1-B33A-4BF5-97EE-D155977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8" name="choose-a">
            <a:extLst xmlns:a="http://schemas.openxmlformats.org/drawingml/2006/main">
              <a:ext uri="{FF2B5EF4-FFF2-40B4-BE49-F238E27FC236}">
                <a16:creationId xmlns:a16="http://schemas.microsoft.com/office/drawing/2014/main" id="{82DB6E28-D30B-41F4-ABB7-603B44B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Choose a</a:t>
            </a:r>
          </a:p>
        </p:txBody>
      </p:sp>
      <p:sp>
        <p:nvSpPr>
          <p:cNvPr id="9" name="flow-arrow-one">
            <a:extLst xmlns:a="http://schemas.openxmlformats.org/drawingml/2006/main">
              <a:ext uri="{FF2B5EF4-FFF2-40B4-BE49-F238E27FC236}">
                <a16:creationId xmlns:a16="http://schemas.microsoft.com/office/drawing/2014/main" id="{537A9DCF-8226-4E91-A89B-089BF027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052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quantum-label">
            <a:extLst xmlns:a="http://schemas.openxmlformats.org/drawingml/2006/main">
              <a:ext uri="{FF2B5EF4-FFF2-40B4-BE49-F238E27FC236}">
                <a16:creationId xmlns:a16="http://schemas.microsoft.com/office/drawing/2014/main" id="{32A2FB4B-8D2F-441F-AD95-EA7B7C5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11" name="find-r">
            <a:extLst xmlns:a="http://schemas.openxmlformats.org/drawingml/2006/main">
              <a:ext uri="{FF2B5EF4-FFF2-40B4-BE49-F238E27FC236}">
                <a16:creationId xmlns:a16="http://schemas.microsoft.com/office/drawing/2014/main" id="{4923448E-CBA6-4315-8938-75152AD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Find r</a:t>
            </a:r>
          </a:p>
        </p:txBody>
      </p:sp>
      <p:sp>
        <p:nvSpPr>
          <p:cNvPr id="12" name="flow-arrow-two">
            <a:extLst xmlns:a="http://schemas.openxmlformats.org/drawingml/2006/main">
              <a:ext uri="{FF2B5EF4-FFF2-40B4-BE49-F238E27FC236}">
                <a16:creationId xmlns:a16="http://schemas.microsoft.com/office/drawing/2014/main" id="{9945698B-344C-4388-9032-F69EDDF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052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classical-two">
            <a:extLst xmlns:a="http://schemas.openxmlformats.org/drawingml/2006/main">
              <a:ext uri="{FF2B5EF4-FFF2-40B4-BE49-F238E27FC236}">
                <a16:creationId xmlns:a16="http://schemas.microsoft.com/office/drawing/2014/main" id="{F794EC35-3315-4924-AD18-4EC67F7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14" name="calculate-gcd">
            <a:extLst xmlns:a="http://schemas.openxmlformats.org/drawingml/2006/main">
              <a:ext uri="{FF2B5EF4-FFF2-40B4-BE49-F238E27FC236}">
                <a16:creationId xmlns:a16="http://schemas.microsoft.com/office/drawing/2014/main" id="{80017ED2-E9F5-4C9D-8623-96F2212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Calculate gcd</a:t>
            </a:r>
          </a:p>
        </p:txBody>
      </p:sp>
      <p:sp>
        <p:nvSpPr>
          <p:cNvPr id="15" name="rule-94-513">
            <a:extLst xmlns:a="http://schemas.openxmlformats.org/drawingml/2006/main">
              <a:ext uri="{FF2B5EF4-FFF2-40B4-BE49-F238E27FC236}">
                <a16:creationId xmlns:a16="http://schemas.microsoft.com/office/drawing/2014/main" id="{1A22ADCB-5645-43C6-87D5-450BB86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422-513">
            <a:extLst xmlns:a="http://schemas.openxmlformats.org/drawingml/2006/main">
              <a:ext uri="{FF2B5EF4-FFF2-40B4-BE49-F238E27FC236}">
                <a16:creationId xmlns:a16="http://schemas.microsoft.com/office/drawing/2014/main" id="{61C6F789-B1B2-45CD-AD7F-2D719B8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863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852-513">
            <a:extLst xmlns:a="http://schemas.openxmlformats.org/drawingml/2006/main">
              <a:ext uri="{FF2B5EF4-FFF2-40B4-BE49-F238E27FC236}">
                <a16:creationId xmlns:a16="http://schemas.microsoft.com/office/drawing/2014/main" id="{4264B810-F14B-425B-B70B-DE748C1D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863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frame-takeaway">
            <a:extLst xmlns:a="http://schemas.openxmlformats.org/drawingml/2006/main">
              <a:ext uri="{FF2B5EF4-FFF2-40B4-BE49-F238E27FC236}">
                <a16:creationId xmlns:a16="http://schemas.microsoft.com/office/drawing/2014/main" id="{850C0D8E-FE36-4D30-A79B-9FC8B2F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81625"/>
            <a:ext cx="864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quantum computer accelerates the hard middle step—not the final gcd arithmetic.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62491CD3-1E74-45ED-8312-279AAE74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695122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EA6C2B9-3A39-402B-8386-A023DF7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500E50-82CE-4042-9FD8-49D4A42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Choose a base; run the first gcd check.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0D3EF1FB-714F-4E44-AA3E-9671902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C57FE2-0BCA-4068-96B0-979DB09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choose-values-background">
            <a:extLst xmlns:a="http://schemas.openxmlformats.org/drawingml/2006/main">
              <a:ext uri="{FF2B5EF4-FFF2-40B4-BE49-F238E27FC236}">
                <a16:creationId xmlns:a16="http://schemas.microsoft.com/office/drawing/2014/main" id="{7E53E77D-053D-4131-976F-1FBA375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28800"/>
            <a:ext cx="8191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6" name="choose-values">
            <a:extLst xmlns:a="http://schemas.openxmlformats.org/drawingml/2006/main">
              <a:ext uri="{FF2B5EF4-FFF2-40B4-BE49-F238E27FC236}">
                <a16:creationId xmlns:a16="http://schemas.microsoft.com/office/drawing/2014/main" id="{86A61674-BCFB-4792-9857-CADACF3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6215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0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N = 21     a = 2</a:t>
            </a:r>
          </a:p>
        </p:txBody>
      </p:sp>
      <p:sp>
        <p:nvSpPr>
          <p:cNvPr id="7" name="step-number-bg-1">
            <a:extLst xmlns:a="http://schemas.openxmlformats.org/drawingml/2006/main">
              <a:ext uri="{FF2B5EF4-FFF2-40B4-BE49-F238E27FC236}">
                <a16:creationId xmlns:a16="http://schemas.microsoft.com/office/drawing/2014/main" id="{79CECD54-4510-42F9-85A4-101B400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ber-front-1">
            <a:extLst xmlns:a="http://schemas.openxmlformats.org/drawingml/2006/main">
              <a:ext uri="{FF2B5EF4-FFF2-40B4-BE49-F238E27FC236}">
                <a16:creationId xmlns:a16="http://schemas.microsoft.com/office/drawing/2014/main" id="{246714AF-131C-4B33-8624-0BF72DD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7211704-9FF3-4ECE-A1CD-0A06BB7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Check the required range</a:t>
            </a:r>
          </a:p>
        </p:txBody>
      </p:sp>
      <p:sp>
        <p:nvSpPr>
          <p:cNvPr id="10" name="range-check">
            <a:extLst xmlns:a="http://schemas.openxmlformats.org/drawingml/2006/main">
              <a:ext uri="{FF2B5EF4-FFF2-40B4-BE49-F238E27FC236}">
                <a16:creationId xmlns:a16="http://schemas.microsoft.com/office/drawing/2014/main" id="{B6ACF5AE-72B8-4C52-90E7-7BA2C3C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 &lt; 2 &lt; 21    ✓</a:t>
            </a:r>
          </a:p>
        </p:txBody>
      </p:sp>
      <p:sp>
        <p:nvSpPr>
          <p:cNvPr id="11" name="step-number-bg-2">
            <a:extLst xmlns:a="http://schemas.openxmlformats.org/drawingml/2006/main">
              <a:ext uri="{FF2B5EF4-FFF2-40B4-BE49-F238E27FC236}">
                <a16:creationId xmlns:a16="http://schemas.microsoft.com/office/drawing/2014/main" id="{403220DB-2AA1-4E6D-98FC-01562F8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ber-front-2">
            <a:extLst xmlns:a="http://schemas.openxmlformats.org/drawingml/2006/main">
              <a:ext uri="{FF2B5EF4-FFF2-40B4-BE49-F238E27FC236}">
                <a16:creationId xmlns:a16="http://schemas.microsoft.com/office/drawing/2014/main" id="{0D05B2C3-5CA7-4D68-8C52-4825D61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F2F1ACC-DC07-474A-BDF2-223533F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Look for an immediate shared factor</a:t>
            </a:r>
          </a:p>
        </p:txBody>
      </p:sp>
      <p:sp>
        <p:nvSpPr>
          <p:cNvPr id="14" name="initial-gcd">
            <a:extLst xmlns:a="http://schemas.openxmlformats.org/drawingml/2006/main">
              <a:ext uri="{FF2B5EF4-FFF2-40B4-BE49-F238E27FC236}">
                <a16:creationId xmlns:a16="http://schemas.microsoft.com/office/drawing/2014/main" id="{057CC073-928A-488D-92A8-B614CB6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gcd(2, 21) = 1</a:t>
            </a:r>
          </a:p>
        </p:txBody>
      </p:sp>
      <p:sp>
        <p:nvSpPr>
          <p:cNvPr id="15" name="coprime-explanation">
            <a:extLst xmlns:a="http://schemas.openxmlformats.org/drawingml/2006/main">
              <a:ext uri="{FF2B5EF4-FFF2-40B4-BE49-F238E27FC236}">
                <a16:creationId xmlns:a16="http://schemas.microsoft.com/office/drawing/2014/main" id="{3338BE83-C3E9-45AD-8475-B063ED1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880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2 and 21 are coprime. No factor has been found yet, so period finding is needed.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6DDB71DB-7518-4E89-9D7B-2CDC9A66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184379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3B6EDF5-05B9-49E7-A0C5-327C678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F7BA7-1BAC-44A1-BB33-6841F00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Modulo keeps only the remainder.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ABBDCD5A-4087-4DFA-AE01-B37EEE2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80D114-FD11-4652-9206-93C9A40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periodic-function-background">
            <a:extLst xmlns:a="http://schemas.openxmlformats.org/drawingml/2006/main">
              <a:ext uri="{FF2B5EF4-FFF2-40B4-BE49-F238E27FC236}">
                <a16:creationId xmlns:a16="http://schemas.microsoft.com/office/drawing/2014/main" id="{4F98172C-6758-4179-A7BE-BDA41CC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8953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ic-function">
            <a:extLst xmlns:a="http://schemas.openxmlformats.org/drawingml/2006/main">
              <a:ext uri="{FF2B5EF4-FFF2-40B4-BE49-F238E27FC236}">
                <a16:creationId xmlns:a16="http://schemas.microsoft.com/office/drawing/2014/main" id="{C84F0D74-BD87-4533-8D9E-A27E081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431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4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4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f(x) = 2ˣ  mod  21</a:t>
            </a:r>
          </a:p>
        </p:txBody>
      </p:sp>
      <p:sp>
        <p:nvSpPr>
          <p:cNvPr id="7" name="modulo-definition">
            <a:extLst xmlns:a="http://schemas.openxmlformats.org/drawingml/2006/main">
              <a:ext uri="{FF2B5EF4-FFF2-40B4-BE49-F238E27FC236}">
                <a16:creationId xmlns:a16="http://schemas.microsoft.com/office/drawing/2014/main" id="{7A8D1F38-BE94-4F79-80D9-5C93EBD0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“mod 21” means: calculate the power, divide by 21, and keep only the remainder.</a:t>
            </a:r>
          </a:p>
        </p:txBody>
      </p:sp>
      <p:sp>
        <p:nvSpPr>
          <p:cNvPr id="8" name="power-example">
            <a:extLst xmlns:a="http://schemas.openxmlformats.org/drawingml/2006/main">
              <a:ext uri="{FF2B5EF4-FFF2-40B4-BE49-F238E27FC236}">
                <a16:creationId xmlns:a16="http://schemas.microsoft.com/office/drawing/2014/main" id="{1EB96154-7B85-4253-B8D1-D5C72407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2⁵ = 32</a:t>
            </a:r>
          </a:p>
        </p:txBody>
      </p:sp>
      <p:sp>
        <p:nvSpPr>
          <p:cNvPr id="9" name="mod-arrow-one">
            <a:extLst xmlns:a="http://schemas.openxmlformats.org/drawingml/2006/main">
              <a:ext uri="{FF2B5EF4-FFF2-40B4-BE49-F238E27FC236}">
                <a16:creationId xmlns:a16="http://schemas.microsoft.com/office/drawing/2014/main" id="{D043117D-9A33-405B-BCC6-70449E28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division-example">
            <a:extLst xmlns:a="http://schemas.openxmlformats.org/drawingml/2006/main">
              <a:ext uri="{FF2B5EF4-FFF2-40B4-BE49-F238E27FC236}">
                <a16:creationId xmlns:a16="http://schemas.microsoft.com/office/drawing/2014/main" id="{537D5180-4C68-4C42-8D2D-CCB869B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32 = 1 × 21 + 11</a:t>
            </a:r>
          </a:p>
        </p:txBody>
      </p:sp>
      <p:sp>
        <p:nvSpPr>
          <p:cNvPr id="11" name="mod-arrow-two">
            <a:extLst xmlns:a="http://schemas.openxmlformats.org/drawingml/2006/main">
              <a:ext uri="{FF2B5EF4-FFF2-40B4-BE49-F238E27FC236}">
                <a16:creationId xmlns:a16="http://schemas.microsoft.com/office/drawing/2014/main" id="{98DB7625-D652-459A-AD02-C583437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mainder-example">
            <a:extLst xmlns:a="http://schemas.openxmlformats.org/drawingml/2006/main">
              <a:ext uri="{FF2B5EF4-FFF2-40B4-BE49-F238E27FC236}">
                <a16:creationId xmlns:a16="http://schemas.microsoft.com/office/drawing/2014/main" id="{C7817A50-183F-4E27-8D33-ABF554CC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f(5) = 11</a:t>
            </a:r>
          </a:p>
        </p:txBody>
      </p:sp>
      <p:sp>
        <p:nvSpPr>
          <p:cNvPr id="13" name="power-label">
            <a:extLst xmlns:a="http://schemas.openxmlformats.org/drawingml/2006/main">
              <a:ext uri="{FF2B5EF4-FFF2-40B4-BE49-F238E27FC236}">
                <a16:creationId xmlns:a16="http://schemas.microsoft.com/office/drawing/2014/main" id="{2AACABF3-A47F-4A22-BFD9-C14C4AF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14" name="division-label">
            <a:extLst xmlns:a="http://schemas.openxmlformats.org/drawingml/2006/main">
              <a:ext uri="{FF2B5EF4-FFF2-40B4-BE49-F238E27FC236}">
                <a16:creationId xmlns:a16="http://schemas.microsoft.com/office/drawing/2014/main" id="{7CB13BFB-12E7-4471-89F1-6E789EF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division with remainder</a:t>
            </a:r>
          </a:p>
        </p:txBody>
      </p:sp>
      <p:sp>
        <p:nvSpPr>
          <p:cNvPr id="15" name="remainder-label">
            <a:extLst xmlns:a="http://schemas.openxmlformats.org/drawingml/2006/main">
              <a:ext uri="{FF2B5EF4-FFF2-40B4-BE49-F238E27FC236}">
                <a16:creationId xmlns:a16="http://schemas.microsoft.com/office/drawing/2014/main" id="{99030BD6-DB5F-4080-8B54-65EA2D2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24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keep the remainder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2DC413D4-F4FE-49D8-9773-118F835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669584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4618B54-102D-40C1-8DB8-061786E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1E8D35-F42A-40B6-9C71-F1B84D5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Evaluate every power until the pattern repeats.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CBC85227-15C4-4646-9442-92C7165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0E5909-2F2B-41CD-B2F4-A5699B6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333625"/>
                <a:gridCol w="4476750"/>
                <a:gridCol w="3248025"/>
              </a:tblGrid>
              <a:tr h="4381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C9D7E7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Calculate 2ˣ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Divide by 21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Keep remainder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2⁰ = 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 = 0 × 21 + 1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f(0) = 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2¹ = 2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 = 0 × 21 + 2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f(1) = 2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2² = 4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 = 0 × 21 + 4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f(2) = 4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2³ = 8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 = 0 × 21 + 8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f(3) = 8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2⁴ = 16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16 = 0 × 21 + 16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f(4) = 16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2⁵ = 32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32 = 1 × 21 + 11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f(5) = 11</a:t>
                      </a:r>
                    </a:p>
                  </a:txBody>
                  <a:tcPr marL="91440" marR="91440" marT="45720" marB="45720">
                    <a:solidFill>
                      <a:srgbClr val="0A1E3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617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2⁶ = 64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64 = 3 × 21 + 1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f(6) = 1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617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2⁷ = 128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128 = 6 × 21 + 2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f(7) = 2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6172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2⁸ = 256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256 = 12 × 21 + 4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6172A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f(8) = 4</a:t>
                      </a:r>
                    </a:p>
                  </a:txBody>
                  <a:tcPr marL="91440" marR="91440" marT="45720" marB="45720">
                    <a:solidFill>
                      <a:srgbClr val="8CDE72"/>
                    </a:solidFill>
                  </a:tcPr>
                </a:tc>
              </a:tr>
            </a:tbl>
          </a:graphicData>
        </a:graphic>
      </p:graphicFrame>
      <p:sp>
        <p:nvSpPr>
          <p:cNvPr id="6" name="table-takeaway">
            <a:extLst xmlns:a="http://schemas.openxmlformats.org/drawingml/2006/main">
              <a:ext uri="{FF2B5EF4-FFF2-40B4-BE49-F238E27FC236}">
                <a16:creationId xmlns:a16="http://schemas.microsoft.com/office/drawing/2014/main" id="{EAC8D636-A8D2-4688-91C1-9D7B584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24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At x = 6, the remainder 1 returns—and the sequence starts again.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AD6C114-697D-472A-B4BF-606B526B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731923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5BA1A0E3-9039-4B4F-9AC4-AC710DFE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90C25D-D60C-4158-B52B-971D1E0A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repeated residues expose the period r = 6.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3471F7E5-3159-417A-A64C-E56A53F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BB5585-CBC2-4EE7-9722-25929B9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cycle-label">
            <a:extLst xmlns:a="http://schemas.openxmlformats.org/drawingml/2006/main">
              <a:ext uri="{FF2B5EF4-FFF2-40B4-BE49-F238E27FC236}">
                <a16:creationId xmlns:a16="http://schemas.microsoft.com/office/drawing/2014/main" id="{580691DC-F4A6-4C1C-AFEC-9F90A29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One complete cycle</a:t>
            </a:r>
          </a:p>
        </p:txBody>
      </p:sp>
      <p:sp>
        <p:nvSpPr>
          <p:cNvPr id="6" name="residue-0-bg">
            <a:extLst xmlns:a="http://schemas.openxmlformats.org/drawingml/2006/main">
              <a:ext uri="{FF2B5EF4-FFF2-40B4-BE49-F238E27FC236}">
                <a16:creationId xmlns:a16="http://schemas.microsoft.com/office/drawing/2014/main" id="{75A614B8-4D72-469D-9989-20A34F8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19050">
            <a:solidFill>
              <a:srgbClr val="8CDE72"/>
            </a:solidFill>
            <a:prstDash val="solid"/>
          </a:ln>
        </p:spPr>
      </p:sp>
      <p:sp>
        <p:nvSpPr>
          <p:cNvPr id="7" name="residue-0">
            <a:extLst xmlns:a="http://schemas.openxmlformats.org/drawingml/2006/main">
              <a:ext uri="{FF2B5EF4-FFF2-40B4-BE49-F238E27FC236}">
                <a16:creationId xmlns:a16="http://schemas.microsoft.com/office/drawing/2014/main" id="{F64C3C46-5599-46D7-A366-461608C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" name="residue-arrow-0">
            <a:extLst xmlns:a="http://schemas.openxmlformats.org/drawingml/2006/main">
              <a:ext uri="{FF2B5EF4-FFF2-40B4-BE49-F238E27FC236}">
                <a16:creationId xmlns:a16="http://schemas.microsoft.com/office/drawing/2014/main" id="{EB73F261-5DFE-4C7F-BF78-7B817A9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sidue-1-bg">
            <a:extLst xmlns:a="http://schemas.openxmlformats.org/drawingml/2006/main">
              <a:ext uri="{FF2B5EF4-FFF2-40B4-BE49-F238E27FC236}">
                <a16:creationId xmlns:a16="http://schemas.microsoft.com/office/drawing/2014/main" id="{4BFA85A5-A167-4134-9CBB-826E442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0" name="residue-1">
            <a:extLst xmlns:a="http://schemas.openxmlformats.org/drawingml/2006/main">
              <a:ext uri="{FF2B5EF4-FFF2-40B4-BE49-F238E27FC236}">
                <a16:creationId xmlns:a16="http://schemas.microsoft.com/office/drawing/2014/main" id="{DF483B18-9BED-426D-9473-91E0A65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1" name="residue-arrow-1">
            <a:extLst xmlns:a="http://schemas.openxmlformats.org/drawingml/2006/main">
              <a:ext uri="{FF2B5EF4-FFF2-40B4-BE49-F238E27FC236}">
                <a16:creationId xmlns:a16="http://schemas.microsoft.com/office/drawing/2014/main" id="{C543C504-DE8C-4571-9EFD-35486C7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sidue-2-bg">
            <a:extLst xmlns:a="http://schemas.openxmlformats.org/drawingml/2006/main">
              <a:ext uri="{FF2B5EF4-FFF2-40B4-BE49-F238E27FC236}">
                <a16:creationId xmlns:a16="http://schemas.microsoft.com/office/drawing/2014/main" id="{546DFF38-3A55-4D55-8FE5-52925136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3" name="residue-2">
            <a:extLst xmlns:a="http://schemas.openxmlformats.org/drawingml/2006/main">
              <a:ext uri="{FF2B5EF4-FFF2-40B4-BE49-F238E27FC236}">
                <a16:creationId xmlns:a16="http://schemas.microsoft.com/office/drawing/2014/main" id="{0D69C812-8F10-4437-A8B8-42CBBE8D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4" name="residue-arrow-2">
            <a:extLst xmlns:a="http://schemas.openxmlformats.org/drawingml/2006/main">
              <a:ext uri="{FF2B5EF4-FFF2-40B4-BE49-F238E27FC236}">
                <a16:creationId xmlns:a16="http://schemas.microsoft.com/office/drawing/2014/main" id="{40E04986-FA83-42FF-85D9-F4DBCD6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sidue-3-bg">
            <a:extLst xmlns:a="http://schemas.openxmlformats.org/drawingml/2006/main">
              <a:ext uri="{FF2B5EF4-FFF2-40B4-BE49-F238E27FC236}">
                <a16:creationId xmlns:a16="http://schemas.microsoft.com/office/drawing/2014/main" id="{98679C28-0730-4347-A017-3FA0B96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6" name="residue-3">
            <a:extLst xmlns:a="http://schemas.openxmlformats.org/drawingml/2006/main">
              <a:ext uri="{FF2B5EF4-FFF2-40B4-BE49-F238E27FC236}">
                <a16:creationId xmlns:a16="http://schemas.microsoft.com/office/drawing/2014/main" id="{838664C9-7709-4050-AE93-F594CB7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17" name="residue-arrow-3">
            <a:extLst xmlns:a="http://schemas.openxmlformats.org/drawingml/2006/main">
              <a:ext uri="{FF2B5EF4-FFF2-40B4-BE49-F238E27FC236}">
                <a16:creationId xmlns:a16="http://schemas.microsoft.com/office/drawing/2014/main" id="{D75FAFE3-9E71-4CF0-8EF8-31F91398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sidue-4-bg">
            <a:extLst xmlns:a="http://schemas.openxmlformats.org/drawingml/2006/main">
              <a:ext uri="{FF2B5EF4-FFF2-40B4-BE49-F238E27FC236}">
                <a16:creationId xmlns:a16="http://schemas.microsoft.com/office/drawing/2014/main" id="{548B9F0A-48AB-4EC7-A15E-03F6CD6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9" name="residue-4">
            <a:extLst xmlns:a="http://schemas.openxmlformats.org/drawingml/2006/main">
              <a:ext uri="{FF2B5EF4-FFF2-40B4-BE49-F238E27FC236}">
                <a16:creationId xmlns:a16="http://schemas.microsoft.com/office/drawing/2014/main" id="{DF69303C-75D9-42A3-B515-38D4FF20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20" name="residue-arrow-4">
            <a:extLst xmlns:a="http://schemas.openxmlformats.org/drawingml/2006/main">
              <a:ext uri="{FF2B5EF4-FFF2-40B4-BE49-F238E27FC236}">
                <a16:creationId xmlns:a16="http://schemas.microsoft.com/office/drawing/2014/main" id="{3E426B0D-C7A9-4A91-A6F4-DECB71C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sidue-5-bg">
            <a:extLst xmlns:a="http://schemas.openxmlformats.org/drawingml/2006/main">
              <a:ext uri="{FF2B5EF4-FFF2-40B4-BE49-F238E27FC236}">
                <a16:creationId xmlns:a16="http://schemas.microsoft.com/office/drawing/2014/main" id="{F9B27D20-77FC-43E9-B524-36B4255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22" name="residue-5">
            <a:extLst xmlns:a="http://schemas.openxmlformats.org/drawingml/2006/main">
              <a:ext uri="{FF2B5EF4-FFF2-40B4-BE49-F238E27FC236}">
                <a16:creationId xmlns:a16="http://schemas.microsoft.com/office/drawing/2014/main" id="{703570E3-9B82-47A7-9D89-96E23F63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23" name="then-label">
            <a:extLst xmlns:a="http://schemas.openxmlformats.org/drawingml/2006/main">
              <a:ext uri="{FF2B5EF4-FFF2-40B4-BE49-F238E27FC236}">
                <a16:creationId xmlns:a16="http://schemas.microsoft.com/office/drawing/2014/main" id="{AF8E0DC6-2BAC-4122-A85A-6BE6FAED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24" name="repeat-one-bg">
            <a:extLst xmlns:a="http://schemas.openxmlformats.org/drawingml/2006/main">
              <a:ext uri="{FF2B5EF4-FFF2-40B4-BE49-F238E27FC236}">
                <a16:creationId xmlns:a16="http://schemas.microsoft.com/office/drawing/2014/main" id="{F1C42DE7-4C12-4657-B8B8-F127038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peat-one">
            <a:extLst xmlns:a="http://schemas.openxmlformats.org/drawingml/2006/main">
              <a:ext uri="{FF2B5EF4-FFF2-40B4-BE49-F238E27FC236}">
                <a16:creationId xmlns:a16="http://schemas.microsoft.com/office/drawing/2014/main" id="{3E4417C5-C1E0-4ADD-BBF7-EE8A4169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6" name="rule-108-382">
            <a:extLst xmlns:a="http://schemas.openxmlformats.org/drawingml/2006/main">
              <a:ext uri="{FF2B5EF4-FFF2-40B4-BE49-F238E27FC236}">
                <a16:creationId xmlns:a16="http://schemas.microsoft.com/office/drawing/2014/main" id="{5D95DDA6-025A-4717-87B4-E94687C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802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ix-steps">
            <a:extLst xmlns:a="http://schemas.openxmlformats.org/drawingml/2006/main">
              <a:ext uri="{FF2B5EF4-FFF2-40B4-BE49-F238E27FC236}">
                <a16:creationId xmlns:a16="http://schemas.microsoft.com/office/drawing/2014/main" id="{53664D3A-AF2D-45B6-91F9-A6DC5111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814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6 steps</a:t>
            </a:r>
          </a:p>
        </p:txBody>
      </p:sp>
      <p:sp>
        <p:nvSpPr>
          <p:cNvPr id="28" name="period-result-background">
            <a:extLst xmlns:a="http://schemas.openxmlformats.org/drawingml/2006/main">
              <a:ext uri="{FF2B5EF4-FFF2-40B4-BE49-F238E27FC236}">
                <a16:creationId xmlns:a16="http://schemas.microsoft.com/office/drawing/2014/main" id="{3D6051EC-AC30-4867-980E-43356BDE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29" name="period-result">
            <a:extLst xmlns:a="http://schemas.openxmlformats.org/drawingml/2006/main">
              <a:ext uri="{FF2B5EF4-FFF2-40B4-BE49-F238E27FC236}">
                <a16:creationId xmlns:a16="http://schemas.microsoft.com/office/drawing/2014/main" id="{D6288885-0988-4F78-AE26-AC7273A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2440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1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51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6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750D3C70-9DD1-427E-A23F-B451E537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458012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3A6756B0-C247-482E-835A-DA9D91C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ECED1-658B-4007-B6E6-4D2BC15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QFT turns repetition into measurable peaks.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74E99D7C-F80E-4664-8957-EB706365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2B232B-A375-478E-85B9-330370C6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uperposition-state-background">
            <a:extLst xmlns:a="http://schemas.openxmlformats.org/drawingml/2006/main">
              <a:ext uri="{FF2B5EF4-FFF2-40B4-BE49-F238E27FC236}">
                <a16:creationId xmlns:a16="http://schemas.microsoft.com/office/drawing/2014/main" id="{FC49B06E-B49C-4567-B283-ED5264DC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F47D3D"/>
            </a:solidFill>
            <a:prstDash val="solid"/>
          </a:ln>
        </p:spPr>
      </p:sp>
      <p:sp>
        <p:nvSpPr>
          <p:cNvPr id="6" name="superposition-state">
            <a:extLst xmlns:a="http://schemas.openxmlformats.org/drawingml/2006/main">
              <a:ext uri="{FF2B5EF4-FFF2-40B4-BE49-F238E27FC236}">
                <a16:creationId xmlns:a16="http://schemas.microsoft.com/office/drawing/2014/main" id="{2E9FF9BB-7503-4E94-A588-D91C38AB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994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|0⟩|1⟩ + |1⟩|2⟩ + |2⟩|4⟩ + |3⟩|8⟩ + …</a:t>
            </a:r>
          </a:p>
        </p:txBody>
      </p:sp>
      <p:sp>
        <p:nvSpPr>
          <p:cNvPr id="7" name="superposition-label">
            <a:extLst xmlns:a="http://schemas.openxmlformats.org/drawingml/2006/main">
              <a:ext uri="{FF2B5EF4-FFF2-40B4-BE49-F238E27FC236}">
                <a16:creationId xmlns:a16="http://schemas.microsoft.com/office/drawing/2014/main" id="{7111E2EA-82B6-4281-8D93-7FF797BC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SUPERPOSITION</a:t>
            </a:r>
          </a:p>
        </p:txBody>
      </p:sp>
      <p:sp>
        <p:nvSpPr>
          <p:cNvPr id="8" name="qft-label">
            <a:extLst xmlns:a="http://schemas.openxmlformats.org/drawingml/2006/main">
              <a:ext uri="{FF2B5EF4-FFF2-40B4-BE49-F238E27FC236}">
                <a16:creationId xmlns:a16="http://schemas.microsoft.com/office/drawing/2014/main" id="{21BC06CE-DD81-47C4-8793-7CE8CA2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QFT</a:t>
            </a:r>
          </a:p>
        </p:txBody>
      </p:sp>
      <p:sp>
        <p:nvSpPr>
          <p:cNvPr id="9" name="measurement-label">
            <a:extLst xmlns:a="http://schemas.openxmlformats.org/drawingml/2006/main">
              <a:ext uri="{FF2B5EF4-FFF2-40B4-BE49-F238E27FC236}">
                <a16:creationId xmlns:a16="http://schemas.microsoft.com/office/drawing/2014/main" id="{3708B8A2-C028-48F9-95EE-AC1DDEA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0" name="quantum-arrow-one">
            <a:extLst xmlns:a="http://schemas.openxmlformats.org/drawingml/2006/main">
              <a:ext uri="{FF2B5EF4-FFF2-40B4-BE49-F238E27FC236}">
                <a16:creationId xmlns:a16="http://schemas.microsoft.com/office/drawing/2014/main" id="{7493EB10-2749-4D72-8F21-C742082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quantum-arrow-two">
            <a:extLst xmlns:a="http://schemas.openxmlformats.org/drawingml/2006/main">
              <a:ext uri="{FF2B5EF4-FFF2-40B4-BE49-F238E27FC236}">
                <a16:creationId xmlns:a16="http://schemas.microsoft.com/office/drawing/2014/main" id="{17659676-2090-4472-B1B5-D3F36C4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242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uperposition-bar-0">
            <a:extLst xmlns:a="http://schemas.openxmlformats.org/drawingml/2006/main">
              <a:ext uri="{FF2B5EF4-FFF2-40B4-BE49-F238E27FC236}">
                <a16:creationId xmlns:a16="http://schemas.microsoft.com/office/drawing/2014/main" id="{463D8859-8529-4B3D-8420-D642BFC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perposition-bar-1">
            <a:extLst xmlns:a="http://schemas.openxmlformats.org/drawingml/2006/main">
              <a:ext uri="{FF2B5EF4-FFF2-40B4-BE49-F238E27FC236}">
                <a16:creationId xmlns:a16="http://schemas.microsoft.com/office/drawing/2014/main" id="{CF802144-6345-483C-8C83-927FC82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perposition-bar-2">
            <a:extLst xmlns:a="http://schemas.openxmlformats.org/drawingml/2006/main">
              <a:ext uri="{FF2B5EF4-FFF2-40B4-BE49-F238E27FC236}">
                <a16:creationId xmlns:a16="http://schemas.microsoft.com/office/drawing/2014/main" id="{CC88CC00-EFA8-4AE7-92A5-5B0DBF7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perposition-bar-3">
            <a:extLst xmlns:a="http://schemas.openxmlformats.org/drawingml/2006/main">
              <a:ext uri="{FF2B5EF4-FFF2-40B4-BE49-F238E27FC236}">
                <a16:creationId xmlns:a16="http://schemas.microsoft.com/office/drawing/2014/main" id="{BE555303-C248-41C4-84C2-612B4C62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perposition-bar-4">
            <a:extLst xmlns:a="http://schemas.openxmlformats.org/drawingml/2006/main">
              <a:ext uri="{FF2B5EF4-FFF2-40B4-BE49-F238E27FC236}">
                <a16:creationId xmlns:a16="http://schemas.microsoft.com/office/drawing/2014/main" id="{CA9BA74A-4614-41CF-A9F7-668E269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perposition-bar-5">
            <a:extLst xmlns:a="http://schemas.openxmlformats.org/drawingml/2006/main">
              <a:ext uri="{FF2B5EF4-FFF2-40B4-BE49-F238E27FC236}">
                <a16:creationId xmlns:a16="http://schemas.microsoft.com/office/drawing/2014/main" id="{06224CE0-0D03-415D-B042-8F75A884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erposition-bar-6">
            <a:extLst xmlns:a="http://schemas.openxmlformats.org/drawingml/2006/main">
              <a:ext uri="{FF2B5EF4-FFF2-40B4-BE49-F238E27FC236}">
                <a16:creationId xmlns:a16="http://schemas.microsoft.com/office/drawing/2014/main" id="{BAFBBF7D-6DF6-4902-8203-AAFBBC2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perposition-bar-7">
            <a:extLst xmlns:a="http://schemas.openxmlformats.org/drawingml/2006/main">
              <a:ext uri="{FF2B5EF4-FFF2-40B4-BE49-F238E27FC236}">
                <a16:creationId xmlns:a16="http://schemas.microsoft.com/office/drawing/2014/main" id="{8A98DACA-47BB-448E-BA41-D552F77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erposition-bar-8">
            <a:extLst xmlns:a="http://schemas.openxmlformats.org/drawingml/2006/main">
              <a:ext uri="{FF2B5EF4-FFF2-40B4-BE49-F238E27FC236}">
                <a16:creationId xmlns:a16="http://schemas.microsoft.com/office/drawing/2014/main" id="{D5164D5D-62F9-4199-99E6-5065D3D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perposition-bar-9">
            <a:extLst xmlns:a="http://schemas.openxmlformats.org/drawingml/2006/main">
              <a:ext uri="{FF2B5EF4-FFF2-40B4-BE49-F238E27FC236}">
                <a16:creationId xmlns:a16="http://schemas.microsoft.com/office/drawing/2014/main" id="{58C78761-1FA6-427E-B881-3AC94E0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perposition-bar-10">
            <a:extLst xmlns:a="http://schemas.openxmlformats.org/drawingml/2006/main">
              <a:ext uri="{FF2B5EF4-FFF2-40B4-BE49-F238E27FC236}">
                <a16:creationId xmlns:a16="http://schemas.microsoft.com/office/drawing/2014/main" id="{6CBC3B97-C7C2-4C3C-8779-C860D4A1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perposition-bar-11">
            <a:extLst xmlns:a="http://schemas.openxmlformats.org/drawingml/2006/main">
              <a:ext uri="{FF2B5EF4-FFF2-40B4-BE49-F238E27FC236}">
                <a16:creationId xmlns:a16="http://schemas.microsoft.com/office/drawing/2014/main" id="{8AE8EC53-DC1B-4ABD-8457-1F46B14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perposition-caption">
            <a:extLst xmlns:a="http://schemas.openxmlformats.org/drawingml/2006/main">
              <a:ext uri="{FF2B5EF4-FFF2-40B4-BE49-F238E27FC236}">
                <a16:creationId xmlns:a16="http://schemas.microsoft.com/office/drawing/2014/main" id="{C3E673A2-2891-4DB7-9841-E55EBE9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many x-values</a:t>
            </a:r>
          </a:p>
        </p:txBody>
      </p:sp>
      <p:sp>
        <p:nvSpPr>
          <p:cNvPr id="25" name="qft-bar-0">
            <a:extLst xmlns:a="http://schemas.openxmlformats.org/drawingml/2006/main">
              <a:ext uri="{FF2B5EF4-FFF2-40B4-BE49-F238E27FC236}">
                <a16:creationId xmlns:a16="http://schemas.microsoft.com/office/drawing/2014/main" id="{D886EE70-4A6F-411B-985D-E52E235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ft-bar-1">
            <a:extLst xmlns:a="http://schemas.openxmlformats.org/drawingml/2006/main">
              <a:ext uri="{FF2B5EF4-FFF2-40B4-BE49-F238E27FC236}">
                <a16:creationId xmlns:a16="http://schemas.microsoft.com/office/drawing/2014/main" id="{41D56D63-25C7-489D-B9E0-BBD214FF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ft-bar-2">
            <a:extLst xmlns:a="http://schemas.openxmlformats.org/drawingml/2006/main">
              <a:ext uri="{FF2B5EF4-FFF2-40B4-BE49-F238E27FC236}">
                <a16:creationId xmlns:a16="http://schemas.microsoft.com/office/drawing/2014/main" id="{E6FE76E6-7DBF-454D-8385-201ACA4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ft-bar-3">
            <a:extLst xmlns:a="http://schemas.openxmlformats.org/drawingml/2006/main">
              <a:ext uri="{FF2B5EF4-FFF2-40B4-BE49-F238E27FC236}">
                <a16:creationId xmlns:a16="http://schemas.microsoft.com/office/drawing/2014/main" id="{205310A6-5644-42DF-BE80-F899F91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qft-bar-4">
            <a:extLst xmlns:a="http://schemas.openxmlformats.org/drawingml/2006/main">
              <a:ext uri="{FF2B5EF4-FFF2-40B4-BE49-F238E27FC236}">
                <a16:creationId xmlns:a16="http://schemas.microsoft.com/office/drawing/2014/main" id="{6CFCFD58-744B-426C-AE92-3974D49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qft-bar-5">
            <a:extLst xmlns:a="http://schemas.openxmlformats.org/drawingml/2006/main">
              <a:ext uri="{FF2B5EF4-FFF2-40B4-BE49-F238E27FC236}">
                <a16:creationId xmlns:a16="http://schemas.microsoft.com/office/drawing/2014/main" id="{83A6690D-5622-40FB-ABBA-5BD24B86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qft-bar-6">
            <a:extLst xmlns:a="http://schemas.openxmlformats.org/drawingml/2006/main">
              <a:ext uri="{FF2B5EF4-FFF2-40B4-BE49-F238E27FC236}">
                <a16:creationId xmlns:a16="http://schemas.microsoft.com/office/drawing/2014/main" id="{12F150AE-E094-48DC-844F-C6DF702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qft-bar-7">
            <a:extLst xmlns:a="http://schemas.openxmlformats.org/drawingml/2006/main">
              <a:ext uri="{FF2B5EF4-FFF2-40B4-BE49-F238E27FC236}">
                <a16:creationId xmlns:a16="http://schemas.microsoft.com/office/drawing/2014/main" id="{797983EA-2EBE-4EFC-B035-D1B7811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qft-bar-8">
            <a:extLst xmlns:a="http://schemas.openxmlformats.org/drawingml/2006/main">
              <a:ext uri="{FF2B5EF4-FFF2-40B4-BE49-F238E27FC236}">
                <a16:creationId xmlns:a16="http://schemas.microsoft.com/office/drawing/2014/main" id="{CC4EBB07-D4BE-428B-AF79-C687ADC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qft-bar-9">
            <a:extLst xmlns:a="http://schemas.openxmlformats.org/drawingml/2006/main">
              <a:ext uri="{FF2B5EF4-FFF2-40B4-BE49-F238E27FC236}">
                <a16:creationId xmlns:a16="http://schemas.microsoft.com/office/drawing/2014/main" id="{360A3D0C-F216-4958-8427-4CF07D6C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qft-bar-10">
            <a:extLst xmlns:a="http://schemas.openxmlformats.org/drawingml/2006/main">
              <a:ext uri="{FF2B5EF4-FFF2-40B4-BE49-F238E27FC236}">
                <a16:creationId xmlns:a16="http://schemas.microsoft.com/office/drawing/2014/main" id="{FB7E36BA-4BCA-4EE8-A463-F48143E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qft-bar-11">
            <a:extLst xmlns:a="http://schemas.openxmlformats.org/drawingml/2006/main">
              <a:ext uri="{FF2B5EF4-FFF2-40B4-BE49-F238E27FC236}">
                <a16:creationId xmlns:a16="http://schemas.microsoft.com/office/drawing/2014/main" id="{E9C89518-AD75-4109-B867-1263FE8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qft-bar-12">
            <a:extLst xmlns:a="http://schemas.openxmlformats.org/drawingml/2006/main">
              <a:ext uri="{FF2B5EF4-FFF2-40B4-BE49-F238E27FC236}">
                <a16:creationId xmlns:a16="http://schemas.microsoft.com/office/drawing/2014/main" id="{AC02844C-6D49-4725-A5C0-7EA48CE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qft-bar-13">
            <a:extLst xmlns:a="http://schemas.openxmlformats.org/drawingml/2006/main">
              <a:ext uri="{FF2B5EF4-FFF2-40B4-BE49-F238E27FC236}">
                <a16:creationId xmlns:a16="http://schemas.microsoft.com/office/drawing/2014/main" id="{3514D526-DAA4-4B83-A836-18E137F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qft-bar-14">
            <a:extLst xmlns:a="http://schemas.openxmlformats.org/drawingml/2006/main">
              <a:ext uri="{FF2B5EF4-FFF2-40B4-BE49-F238E27FC236}">
                <a16:creationId xmlns:a16="http://schemas.microsoft.com/office/drawing/2014/main" id="{ED7A8616-DE61-4241-9BEB-5102A03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qft-bar-15">
            <a:extLst xmlns:a="http://schemas.openxmlformats.org/drawingml/2006/main">
              <a:ext uri="{FF2B5EF4-FFF2-40B4-BE49-F238E27FC236}">
                <a16:creationId xmlns:a16="http://schemas.microsoft.com/office/drawing/2014/main" id="{45022D32-CBF5-43AD-A9CC-34DBA52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qft-bar-16">
            <a:extLst xmlns:a="http://schemas.openxmlformats.org/drawingml/2006/main">
              <a:ext uri="{FF2B5EF4-FFF2-40B4-BE49-F238E27FC236}">
                <a16:creationId xmlns:a16="http://schemas.microsoft.com/office/drawing/2014/main" id="{2472DFAB-AB29-454F-A443-B811F7B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qft-bar-17">
            <a:extLst xmlns:a="http://schemas.openxmlformats.org/drawingml/2006/main">
              <a:ext uri="{FF2B5EF4-FFF2-40B4-BE49-F238E27FC236}">
                <a16:creationId xmlns:a16="http://schemas.microsoft.com/office/drawing/2014/main" id="{B31C004A-044F-4579-A228-B3B31E9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qft-caption">
            <a:extLst xmlns:a="http://schemas.openxmlformats.org/drawingml/2006/main">
              <a:ext uri="{FF2B5EF4-FFF2-40B4-BE49-F238E27FC236}">
                <a16:creationId xmlns:a16="http://schemas.microsoft.com/office/drawing/2014/main" id="{4C4D5C9A-3B5D-4430-9AE4-D009FBBA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six frequency peaks</a:t>
            </a:r>
          </a:p>
        </p:txBody>
      </p:sp>
      <p:sp>
        <p:nvSpPr>
          <p:cNvPr id="44" name="quantum-period-output-background">
            <a:extLst xmlns:a="http://schemas.openxmlformats.org/drawingml/2006/main">
              <a:ext uri="{FF2B5EF4-FFF2-40B4-BE49-F238E27FC236}">
                <a16:creationId xmlns:a16="http://schemas.microsoft.com/office/drawing/2014/main" id="{BA5E4D0B-5920-4EEC-B13C-3352E5FB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76625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45" name="quantum-period-output">
            <a:extLst xmlns:a="http://schemas.openxmlformats.org/drawingml/2006/main">
              <a:ext uri="{FF2B5EF4-FFF2-40B4-BE49-F238E27FC236}">
                <a16:creationId xmlns:a16="http://schemas.microsoft.com/office/drawing/2014/main" id="{8D8FF05A-A8DF-47CE-B73B-55A65B84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1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41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6</a:t>
            </a:r>
          </a:p>
        </p:txBody>
      </p:sp>
      <p:sp>
        <p:nvSpPr>
          <p:cNvPr id="46" name="quantum-explanation">
            <a:extLst xmlns:a="http://schemas.openxmlformats.org/drawingml/2006/main">
              <a:ext uri="{FF2B5EF4-FFF2-40B4-BE49-F238E27FC236}">
                <a16:creationId xmlns:a16="http://schemas.microsoft.com/office/drawing/2014/main" id="{F67022D4-056A-4D54-91E9-474C770D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QFT reveals the hidden frequency structure; classical post-processing reconstructs r.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DA919BBA-965E-43C2-AA77-298668E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1532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A3FDD87-2A09-4E26-BAE2-67A642F1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732600-F0A2-4D59-A90F-F7B08E7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period passes both checks.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D68E355D-A0DD-47B5-BC81-DA00629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78EF61-16E4-410B-B581-A0F5C705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step-number-bg-1">
            <a:extLst xmlns:a="http://schemas.openxmlformats.org/drawingml/2006/main">
              <a:ext uri="{FF2B5EF4-FFF2-40B4-BE49-F238E27FC236}">
                <a16:creationId xmlns:a16="http://schemas.microsoft.com/office/drawing/2014/main" id="{C2BD8A77-AEC8-4378-B8A7-D672337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front-1">
            <a:extLst xmlns:a="http://schemas.openxmlformats.org/drawingml/2006/main">
              <a:ext uri="{FF2B5EF4-FFF2-40B4-BE49-F238E27FC236}">
                <a16:creationId xmlns:a16="http://schemas.microsoft.com/office/drawing/2014/main" id="{950BB39F-0472-46E0-9093-3D106DC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BD1A468-1784-46BA-BEEB-E20AA528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097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period must be even</a:t>
            </a:r>
          </a:p>
        </p:txBody>
      </p:sp>
      <p:sp>
        <p:nvSpPr>
          <p:cNvPr id="8" name="even-period">
            <a:extLst xmlns:a="http://schemas.openxmlformats.org/drawingml/2006/main">
              <a:ext uri="{FF2B5EF4-FFF2-40B4-BE49-F238E27FC236}">
                <a16:creationId xmlns:a16="http://schemas.microsoft.com/office/drawing/2014/main" id="{CF1B0DA1-6E7B-4870-B361-BB711A2F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6 is even    ✓</a:t>
            </a:r>
          </a:p>
        </p:txBody>
      </p:sp>
      <p:sp>
        <p:nvSpPr>
          <p:cNvPr id="9" name="step-number-bg-2">
            <a:extLst xmlns:a="http://schemas.openxmlformats.org/drawingml/2006/main">
              <a:ext uri="{FF2B5EF4-FFF2-40B4-BE49-F238E27FC236}">
                <a16:creationId xmlns:a16="http://schemas.microsoft.com/office/drawing/2014/main" id="{B28419B8-EDFD-4275-B41F-48ED919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front-2">
            <a:extLst xmlns:a="http://schemas.openxmlformats.org/drawingml/2006/main">
              <a:ext uri="{FF2B5EF4-FFF2-40B4-BE49-F238E27FC236}">
                <a16:creationId xmlns:a16="http://schemas.microsoft.com/office/drawing/2014/main" id="{EAE4A571-C5F4-4103-9870-B927135E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D4C303D-0269-4318-B6D6-14E254ED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Calculate the half-period power</a:t>
            </a:r>
          </a:p>
        </p:txBody>
      </p:sp>
      <p:sp>
        <p:nvSpPr>
          <p:cNvPr id="12" name="half-period-power">
            <a:extLst xmlns:a="http://schemas.openxmlformats.org/drawingml/2006/main">
              <a:ext uri="{FF2B5EF4-FFF2-40B4-BE49-F238E27FC236}">
                <a16:creationId xmlns:a16="http://schemas.microsoft.com/office/drawing/2014/main" id="{39659E66-721D-479B-84A0-F5C7662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y = 2^(6/2) = 2³ = 8</a:t>
            </a:r>
          </a:p>
        </p:txBody>
      </p:sp>
      <p:sp>
        <p:nvSpPr>
          <p:cNvPr id="13" name="step-number-bg-3">
            <a:extLst xmlns:a="http://schemas.openxmlformats.org/drawingml/2006/main">
              <a:ext uri="{FF2B5EF4-FFF2-40B4-BE49-F238E27FC236}">
                <a16:creationId xmlns:a16="http://schemas.microsoft.com/office/drawing/2014/main" id="{41CC2D48-A451-4097-8E66-A3DF723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-front-3">
            <a:extLst xmlns:a="http://schemas.openxmlformats.org/drawingml/2006/main">
              <a:ext uri="{FF2B5EF4-FFF2-40B4-BE49-F238E27FC236}">
                <a16:creationId xmlns:a16="http://schemas.microsoft.com/office/drawing/2014/main" id="{840FDE6B-9974-44C9-8D11-F321945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DFAA7EC-2AA3-4DE5-86C0-6262D018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Check y modulo N</a:t>
            </a:r>
          </a:p>
        </p:txBody>
      </p:sp>
      <p:sp>
        <p:nvSpPr>
          <p:cNvPr id="16" name="half-mod-division">
            <a:extLst xmlns:a="http://schemas.openxmlformats.org/drawingml/2006/main">
              <a:ext uri="{FF2B5EF4-FFF2-40B4-BE49-F238E27FC236}">
                <a16:creationId xmlns:a16="http://schemas.microsoft.com/office/drawing/2014/main" id="{B88F9823-30D7-4860-80C7-CA9E0DF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8 = 0 × 21 + 8</a:t>
            </a:r>
          </a:p>
        </p:txBody>
      </p:sp>
      <p:sp>
        <p:nvSpPr>
          <p:cNvPr id="17" name="half-mod-result">
            <a:extLst xmlns:a="http://schemas.openxmlformats.org/drawingml/2006/main">
              <a:ext uri="{FF2B5EF4-FFF2-40B4-BE49-F238E27FC236}">
                <a16:creationId xmlns:a16="http://schemas.microsoft.com/office/drawing/2014/main" id="{C8DD761F-368C-4114-86BE-189DE37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8 mod 21 = 8</a:t>
            </a:r>
          </a:p>
        </p:txBody>
      </p:sp>
      <p:sp>
        <p:nvSpPr>
          <p:cNvPr id="18" name="validation-takeaway">
            <a:extLst xmlns:a="http://schemas.openxmlformats.org/drawingml/2006/main">
              <a:ext uri="{FF2B5EF4-FFF2-40B4-BE49-F238E27FC236}">
                <a16:creationId xmlns:a16="http://schemas.microsoft.com/office/drawing/2014/main" id="{EB400372-D3C1-4A69-B3A1-B649AEC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14975"/>
            <a:ext cx="880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8 is neither +1 nor −1 modulo 21, so this period is usable.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F5CD4F44-56FB-4898-A383-753F8E0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627252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785E8CE-4695-4B2A-A950-0004CCA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93484-9A2A-48A5-BD5C-04395082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One number now has two useful factorizations.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70A2C074-266E-4AB5-81D9-9F2E29F3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499F97-6E8C-4F70-BE93-FDB5B5A4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period-modulo-one-background">
            <a:extLst xmlns:a="http://schemas.openxmlformats.org/drawingml/2006/main">
              <a:ext uri="{FF2B5EF4-FFF2-40B4-BE49-F238E27FC236}">
                <a16:creationId xmlns:a16="http://schemas.microsoft.com/office/drawing/2014/main" id="{0941ED48-C640-44E9-9777-177532E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9753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-modulo-one">
            <a:extLst xmlns:a="http://schemas.openxmlformats.org/drawingml/2006/main">
              <a:ext uri="{FF2B5EF4-FFF2-40B4-BE49-F238E27FC236}">
                <a16:creationId xmlns:a16="http://schemas.microsoft.com/office/drawing/2014/main" id="{6C1AF588-BDC5-4FC9-804C-F3600239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2⁶ mod 21 = 1</a:t>
            </a:r>
          </a:p>
        </p:txBody>
      </p:sp>
      <p:sp>
        <p:nvSpPr>
          <p:cNvPr id="7" name="because-label">
            <a:extLst xmlns:a="http://schemas.openxmlformats.org/drawingml/2006/main">
              <a:ext uri="{FF2B5EF4-FFF2-40B4-BE49-F238E27FC236}">
                <a16:creationId xmlns:a16="http://schemas.microsoft.com/office/drawing/2014/main" id="{86E31644-B5F9-45A0-9BBC-C81932C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because</a:t>
            </a:r>
          </a:p>
        </p:txBody>
      </p:sp>
      <p:sp>
        <p:nvSpPr>
          <p:cNvPr id="8" name="period-division">
            <a:extLst xmlns:a="http://schemas.openxmlformats.org/drawingml/2006/main">
              <a:ext uri="{FF2B5EF4-FFF2-40B4-BE49-F238E27FC236}">
                <a16:creationId xmlns:a16="http://schemas.microsoft.com/office/drawing/2014/main" id="{DCCD7934-C5AC-4128-B37E-7091726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64 = 3 × 21 + 1</a:t>
            </a:r>
          </a:p>
        </p:txBody>
      </p:sp>
      <p:sp>
        <p:nvSpPr>
          <p:cNvPr id="9" name="subtract-label">
            <a:extLst xmlns:a="http://schemas.openxmlformats.org/drawingml/2006/main">
              <a:ext uri="{FF2B5EF4-FFF2-40B4-BE49-F238E27FC236}">
                <a16:creationId xmlns:a16="http://schemas.microsoft.com/office/drawing/2014/main" id="{B66D40E9-BB15-4D06-939F-9DD6D15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76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subtract 1</a:t>
            </a:r>
          </a:p>
        </p:txBody>
      </p:sp>
      <p:sp>
        <p:nvSpPr>
          <p:cNvPr id="10" name="exact-divisibility">
            <a:extLst xmlns:a="http://schemas.openxmlformats.org/drawingml/2006/main">
              <a:ext uri="{FF2B5EF4-FFF2-40B4-BE49-F238E27FC236}">
                <a16:creationId xmlns:a16="http://schemas.microsoft.com/office/drawing/2014/main" id="{67F9D8FC-9FC7-4760-978E-B96AD462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63 = 21 × 3</a:t>
            </a:r>
          </a:p>
        </p:txBody>
      </p:sp>
      <p:sp>
        <p:nvSpPr>
          <p:cNvPr id="11" name="rule-640-380">
            <a:extLst xmlns:a="http://schemas.openxmlformats.org/drawingml/2006/main">
              <a:ext uri="{FF2B5EF4-FFF2-40B4-BE49-F238E27FC236}">
                <a16:creationId xmlns:a16="http://schemas.microsoft.com/office/drawing/2014/main" id="{B89E60AD-5112-43BA-947B-C232F7C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9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ultiple-label">
            <a:extLst xmlns:a="http://schemas.openxmlformats.org/drawingml/2006/main">
              <a:ext uri="{FF2B5EF4-FFF2-40B4-BE49-F238E27FC236}">
                <a16:creationId xmlns:a16="http://schemas.microsoft.com/office/drawing/2014/main" id="{9FA26F40-3BE8-46EE-B01E-C0FD3957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Multiple of N</a:t>
            </a:r>
          </a:p>
        </p:txBody>
      </p:sp>
      <p:sp>
        <p:nvSpPr>
          <p:cNvPr id="13" name="multiple-identity">
            <a:extLst xmlns:a="http://schemas.openxmlformats.org/drawingml/2006/main">
              <a:ext uri="{FF2B5EF4-FFF2-40B4-BE49-F238E27FC236}">
                <a16:creationId xmlns:a16="http://schemas.microsoft.com/office/drawing/2014/main" id="{D310E4C2-D02E-4B75-8BBC-39502A0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63 = 21 × 3</a:t>
            </a:r>
          </a:p>
        </p:txBody>
      </p:sp>
      <p:sp>
        <p:nvSpPr>
          <p:cNvPr id="14" name="difference-label">
            <a:extLst xmlns:a="http://schemas.openxmlformats.org/drawingml/2006/main">
              <a:ext uri="{FF2B5EF4-FFF2-40B4-BE49-F238E27FC236}">
                <a16:creationId xmlns:a16="http://schemas.microsoft.com/office/drawing/2014/main" id="{EE68AB80-2B46-439B-8751-BE3D6D5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Difference of squares</a:t>
            </a:r>
          </a:p>
        </p:txBody>
      </p:sp>
      <p:sp>
        <p:nvSpPr>
          <p:cNvPr id="15" name="difference-identity">
            <a:extLst xmlns:a="http://schemas.openxmlformats.org/drawingml/2006/main">
              <a:ext uri="{FF2B5EF4-FFF2-40B4-BE49-F238E27FC236}">
                <a16:creationId xmlns:a16="http://schemas.microsoft.com/office/drawing/2014/main" id="{94CDA0CB-3210-4E72-A41C-AFC3705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63 = (8 − 1)(8 + 1)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    = 7 × 9</a:t>
            </a:r>
          </a:p>
        </p:txBody>
      </p:sp>
      <p:sp>
        <p:nvSpPr>
          <p:cNvPr id="16" name="identity-takeaway">
            <a:extLst xmlns:a="http://schemas.openxmlformats.org/drawingml/2006/main">
              <a:ext uri="{FF2B5EF4-FFF2-40B4-BE49-F238E27FC236}">
                <a16:creationId xmlns:a16="http://schemas.microsoft.com/office/drawing/2014/main" id="{CB8E661F-C36B-4AA2-891C-2CBC32D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candidates 7 and 9 are not yet the final factor pair. The gcd step extracts what each shares with 21.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4A86B1E7-8AC0-4B4E-B517-4F37CD6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591164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0E59627-0A1B-40E7-AFA5-3231E55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75145-CAA6-4E46-91A1-C515442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Two gcd calculations reveal 3 and 7.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5B996D99-F2A8-4554-A91A-21D1E82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25745D-ACE4-4901-8B19-F465C5A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irst-candidate-label">
            <a:extLst xmlns:a="http://schemas.openxmlformats.org/drawingml/2006/main">
              <a:ext uri="{FF2B5EF4-FFF2-40B4-BE49-F238E27FC236}">
                <a16:creationId xmlns:a16="http://schemas.microsoft.com/office/drawing/2014/main" id="{CE9144EA-EDA3-4695-9C11-E442685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First candidate</a:t>
            </a:r>
          </a:p>
        </p:txBody>
      </p:sp>
      <p:sp>
        <p:nvSpPr>
          <p:cNvPr id="6" name="first-gcd-background">
            <a:extLst xmlns:a="http://schemas.openxmlformats.org/drawingml/2006/main">
              <a:ext uri="{FF2B5EF4-FFF2-40B4-BE49-F238E27FC236}">
                <a16:creationId xmlns:a16="http://schemas.microsoft.com/office/drawing/2014/main" id="{A52F59C0-AD6F-49AB-8FCD-B8A7433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191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7" name="first-gcd">
            <a:extLst xmlns:a="http://schemas.openxmlformats.org/drawingml/2006/main">
              <a:ext uri="{FF2B5EF4-FFF2-40B4-BE49-F238E27FC236}">
                <a16:creationId xmlns:a16="http://schemas.microsoft.com/office/drawing/2014/main" id="{ED85FF9C-6E5A-491A-B968-982F6BE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gcd(7, 21) = 7</a:t>
            </a:r>
          </a:p>
        </p:txBody>
      </p:sp>
      <p:sp>
        <p:nvSpPr>
          <p:cNvPr id="8" name="second-candidate-label">
            <a:extLst xmlns:a="http://schemas.openxmlformats.org/drawingml/2006/main">
              <a:ext uri="{FF2B5EF4-FFF2-40B4-BE49-F238E27FC236}">
                <a16:creationId xmlns:a16="http://schemas.microsoft.com/office/drawing/2014/main" id="{9C2FD53E-87C7-4FFF-9B62-6CD2588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Second candidate</a:t>
            </a:r>
          </a:p>
        </p:txBody>
      </p:sp>
      <p:sp>
        <p:nvSpPr>
          <p:cNvPr id="9" name="second-gcd-background">
            <a:extLst xmlns:a="http://schemas.openxmlformats.org/drawingml/2006/main">
              <a:ext uri="{FF2B5EF4-FFF2-40B4-BE49-F238E27FC236}">
                <a16:creationId xmlns:a16="http://schemas.microsoft.com/office/drawing/2014/main" id="{6AAC09FD-44D8-4BC0-8E0C-B6019FE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191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10" name="second-gcd">
            <a:extLst xmlns:a="http://schemas.openxmlformats.org/drawingml/2006/main">
              <a:ext uri="{FF2B5EF4-FFF2-40B4-BE49-F238E27FC236}">
                <a16:creationId xmlns:a16="http://schemas.microsoft.com/office/drawing/2014/main" id="{E7709D64-4C3E-4DCA-86DC-FE0B85E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gcd(9, 21) = 3</a:t>
            </a:r>
          </a:p>
        </p:txBody>
      </p:sp>
      <p:sp>
        <p:nvSpPr>
          <p:cNvPr id="11" name="result-arrow">
            <a:extLst xmlns:a="http://schemas.openxmlformats.org/drawingml/2006/main">
              <a:ext uri="{FF2B5EF4-FFF2-40B4-BE49-F238E27FC236}">
                <a16:creationId xmlns:a16="http://schemas.microsoft.com/office/drawing/2014/main" id="{88288BCA-086A-44D5-B031-A2DD7D1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final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338764A6-163B-417A-AC85-1BAFDB6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6743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33354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13" name="final-factorization">
            <a:extLst xmlns:a="http://schemas.openxmlformats.org/drawingml/2006/main">
              <a:ext uri="{FF2B5EF4-FFF2-40B4-BE49-F238E27FC236}">
                <a16:creationId xmlns:a16="http://schemas.microsoft.com/office/drawing/2014/main" id="{DF1B3DED-4DF7-427F-8BDE-C5B2139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38650"/>
            <a:ext cx="632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2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52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21 = 3 × 7</a:t>
            </a:r>
          </a:p>
        </p:txBody>
      </p:sp>
      <p:sp>
        <p:nvSpPr>
          <p:cNvPr id="14" name="result-takeaway">
            <a:extLst xmlns:a="http://schemas.openxmlformats.org/drawingml/2006/main">
              <a:ext uri="{FF2B5EF4-FFF2-40B4-BE49-F238E27FC236}">
                <a16:creationId xmlns:a16="http://schemas.microsoft.com/office/drawing/2014/main" id="{4D6BA558-18F3-46C0-A52B-BE22ED78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912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quantum period has become a classical factorization.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51F8CF9-1B8A-44C7-8C10-546BFA3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21</a:t>
            </a:r>
          </a:p>
        </p:txBody>
      </p:sp>
    </p:spTree>
    <p:extLst>
      <p:ext uri="{BB962C8B-B14F-4D97-AF65-F5344CB8AC3E}">
        <p14:creationId xmlns:p14="http://schemas.microsoft.com/office/powerpoint/2010/main" val="1337490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1CAEBD1-BAEB-453F-8B99-F997403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KEY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EE6A17-53E5-40C7-BAF1-AEFA370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Quantum finds the period—not the factors.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1DB9BC38-06C4-40EA-8B05-62A3E4D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C126CE-9D9E-4E4D-8471-1E99E9B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closing-quantum-label">
            <a:extLst xmlns:a="http://schemas.openxmlformats.org/drawingml/2006/main">
              <a:ext uri="{FF2B5EF4-FFF2-40B4-BE49-F238E27FC236}">
                <a16:creationId xmlns:a16="http://schemas.microsoft.com/office/drawing/2014/main" id="{7C7B0282-2FED-48E7-B405-D6C6511B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6" name="closing-quantum">
            <a:extLst xmlns:a="http://schemas.openxmlformats.org/drawingml/2006/main">
              <a:ext uri="{FF2B5EF4-FFF2-40B4-BE49-F238E27FC236}">
                <a16:creationId xmlns:a16="http://schemas.microsoft.com/office/drawing/2014/main" id="{B7AF9096-74CA-41A0-96DC-49AD1F3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Find r for aˣ mod N</a:t>
            </a:r>
          </a:p>
        </p:txBody>
      </p:sp>
      <p:sp>
        <p:nvSpPr>
          <p:cNvPr id="7" name="closing-classical-label">
            <a:extLst xmlns:a="http://schemas.openxmlformats.org/drawingml/2006/main">
              <a:ext uri="{FF2B5EF4-FFF2-40B4-BE49-F238E27FC236}">
                <a16:creationId xmlns:a16="http://schemas.microsoft.com/office/drawing/2014/main" id="{674B770F-C83D-4302-8AA4-B38D849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8" name="closing-classical">
            <a:extLst xmlns:a="http://schemas.openxmlformats.org/drawingml/2006/main">
              <a:ext uri="{FF2B5EF4-FFF2-40B4-BE49-F238E27FC236}">
                <a16:creationId xmlns:a16="http://schemas.microsoft.com/office/drawing/2014/main" id="{E5FDD131-A73F-4F5F-A3BA-4709492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Use gcd to extract factors</a:t>
            </a:r>
          </a:p>
        </p:txBody>
      </p:sp>
      <p:sp>
        <p:nvSpPr>
          <p:cNvPr id="9" name="closing-result">
            <a:extLst xmlns:a="http://schemas.openxmlformats.org/drawingml/2006/main">
              <a:ext uri="{FF2B5EF4-FFF2-40B4-BE49-F238E27FC236}">
                <a16:creationId xmlns:a16="http://schemas.microsoft.com/office/drawing/2014/main" id="{1A91BE4F-BEA3-4166-B4D4-46D4FE9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337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21 = 3 × 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ec863f80f433f"/>
          <a:srcRect xmlns:a="http://schemas.openxmlformats.org/drawingml/2006/main" l="0" t="3776" r="0" b="3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809750"/>
            <a:ext cx="57912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11" name="demo-link">
            <a:extLst xmlns:a="http://schemas.openxmlformats.org/drawingml/2006/main">
              <a:ext uri="{FF2B5EF4-FFF2-40B4-BE49-F238E27FC236}">
                <a16:creationId xmlns:a16="http://schemas.microsoft.com/office/drawing/2014/main" id="{DC9F10CC-1528-4980-84D3-C644D7C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912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725" b="1" u="sng">
                <a:solidFill>
                  <a:srgbClr val="8CDE72"/>
                </a:solidFill>
                <a:latin typeface="Arial"/>
                <a:ea typeface="Arial"/>
                <a:cs typeface="Arial"/>
                <a:hlinkClick xmlns:r="http://schemas.openxmlformats.org/officeDocument/2006/relationships" r:id="Rc19fafb0e57c41b9"/>
              </a:rPr>
              <a:t>Continue with the interactive walkthrough  →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31E2E9C-EA16-49EF-950A-3FB5A70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OPEN THE LIVE WALKTHROUGH</a:t>
            </a:r>
          </a:p>
        </p:txBody>
      </p:sp>
    </p:spTree>
    <p:extLst>
      <p:ext uri="{BB962C8B-B14F-4D97-AF65-F5344CB8AC3E}">
        <p14:creationId xmlns:p14="http://schemas.microsoft.com/office/powerpoint/2010/main" val="1607360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2026-07-30T03:18:56.7640000Z</dcterms:created>
  <dcterms:modified xsi:type="dcterms:W3CDTF">2026-07-30T03:18:56.7640000Z</dcterms:modified>
</coreProperties>
</file>