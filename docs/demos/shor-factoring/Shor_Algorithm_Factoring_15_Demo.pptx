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6cc729465294ff3" /><Relationship Type="http://schemas.openxmlformats.org/officeDocument/2006/relationships/extended-properties" Target="/docProps/app.xml" Id="Rf13dc5ad07ce4f1c" /><Relationship Type="http://schemas.openxmlformats.org/officeDocument/2006/relationships/officeDocument" Target="/ppt/presentation.xml" Id="Rdb3e15ebcaed48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01cc6f3f5224ecf"/>
  </p:sldMasterIdLst>
  <p:notesMasterIdLst>
    <p:notesMasterId xmlns:r="http://schemas.openxmlformats.org/officeDocument/2006/relationships" r:id="Rbdfc6ddbf2774b95"/>
  </p:notesMasterIdLst>
  <p:sldIdLst>
    <p:sldId xmlns:r="http://schemas.openxmlformats.org/officeDocument/2006/relationships" id="256" r:id="R9ae7704c13d74d4d"/>
    <p:sldId xmlns:r="http://schemas.openxmlformats.org/officeDocument/2006/relationships" id="257" r:id="R9d56396128e04870"/>
    <p:sldId xmlns:r="http://schemas.openxmlformats.org/officeDocument/2006/relationships" id="258" r:id="Rf94059f3ae3c4198"/>
    <p:sldId xmlns:r="http://schemas.openxmlformats.org/officeDocument/2006/relationships" id="259" r:id="R43f2cfa0728a4e96"/>
    <p:sldId xmlns:r="http://schemas.openxmlformats.org/officeDocument/2006/relationships" id="260" r:id="Rdb0a4303cb164db9"/>
    <p:sldId xmlns:r="http://schemas.openxmlformats.org/officeDocument/2006/relationships" id="261" r:id="R6f088aa3e1af4d60"/>
    <p:sldId xmlns:r="http://schemas.openxmlformats.org/officeDocument/2006/relationships" id="262" r:id="R74654bdc160d4cc1"/>
    <p:sldId xmlns:r="http://schemas.openxmlformats.org/officeDocument/2006/relationships" id="263" r:id="R638c002407ad46c1"/>
    <p:sldId xmlns:r="http://schemas.openxmlformats.org/officeDocument/2006/relationships" id="264" r:id="R20d1468e96eb4b62"/>
    <p:sldId xmlns:r="http://schemas.openxmlformats.org/officeDocument/2006/relationships" id="265" r:id="R0f3395de6cbc4df7"/>
    <p:sldId xmlns:r="http://schemas.openxmlformats.org/officeDocument/2006/relationships" id="266" r:id="Re1331f2163df4733"/>
    <p:sldId xmlns:r="http://schemas.openxmlformats.org/officeDocument/2006/relationships" id="267" r:id="Rf7179d1bb83e4c9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f20cf0ebb254752" /><Relationship Type="http://schemas.openxmlformats.org/officeDocument/2006/relationships/slideMaster" Target="/ppt/slideMasters/slideMaster1.xml" Id="Rd01cc6f3f5224ecf" /><Relationship Type="http://schemas.openxmlformats.org/officeDocument/2006/relationships/notesMaster" Target="/ppt/notesMasters/notesMaster1.xml" Id="Rbdfc6ddbf2774b95" /><Relationship Type="http://schemas.openxmlformats.org/officeDocument/2006/relationships/presProps" Target="/ppt/presProps.xml" Id="Rc7e443751b164473" /><Relationship Type="http://schemas.openxmlformats.org/officeDocument/2006/relationships/tableStyles" Target="/ppt/tableStyles.xml" Id="R28259652b1644cba" /><Relationship Type="http://schemas.openxmlformats.org/officeDocument/2006/relationships/slide" Target="/ppt/slides/slide1.xml" Id="R9ae7704c13d74d4d" /><Relationship Type="http://schemas.openxmlformats.org/officeDocument/2006/relationships/slide" Target="/ppt/slides/slide2.xml" Id="R9d56396128e04870" /><Relationship Type="http://schemas.openxmlformats.org/officeDocument/2006/relationships/slide" Target="/ppt/slides/slide3.xml" Id="Rf94059f3ae3c4198" /><Relationship Type="http://schemas.openxmlformats.org/officeDocument/2006/relationships/slide" Target="/ppt/slides/slide4.xml" Id="R43f2cfa0728a4e96" /><Relationship Type="http://schemas.openxmlformats.org/officeDocument/2006/relationships/slide" Target="/ppt/slides/slide5.xml" Id="Rdb0a4303cb164db9" /><Relationship Type="http://schemas.openxmlformats.org/officeDocument/2006/relationships/slide" Target="/ppt/slides/slide6.xml" Id="R6f088aa3e1af4d60" /><Relationship Type="http://schemas.openxmlformats.org/officeDocument/2006/relationships/slide" Target="/ppt/slides/slide7.xml" Id="R74654bdc160d4cc1" /><Relationship Type="http://schemas.openxmlformats.org/officeDocument/2006/relationships/slide" Target="/ppt/slides/slide8.xml" Id="R638c002407ad46c1" /><Relationship Type="http://schemas.openxmlformats.org/officeDocument/2006/relationships/slide" Target="/ppt/slides/slide9.xml" Id="R20d1468e96eb4b62" /><Relationship Type="http://schemas.openxmlformats.org/officeDocument/2006/relationships/slide" Target="/ppt/slides/slide10.xml" Id="R0f3395de6cbc4df7" /><Relationship Type="http://schemas.openxmlformats.org/officeDocument/2006/relationships/slide" Target="/ppt/slides/slide11.xml" Id="Re1331f2163df4733" /><Relationship Type="http://schemas.openxmlformats.org/officeDocument/2006/relationships/slide" Target="/ppt/slides/slide12.xml" Id="Rf7179d1bb83e4c9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608458b12504d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ad08446308a40ec" /><Relationship Type="http://schemas.openxmlformats.org/officeDocument/2006/relationships/notesMaster" Target="/ppt/notesMasters/notesMaster1.xml" Id="R8292799b1e244ae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ca77ffc7d514fca" /><Relationship Type="http://schemas.openxmlformats.org/officeDocument/2006/relationships/notesMaster" Target="/ppt/notesMasters/notesMaster1.xml" Id="R5f112493752345f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224fa2355dc4292" /><Relationship Type="http://schemas.openxmlformats.org/officeDocument/2006/relationships/notesMaster" Target="/ppt/notesMasters/notesMaster1.xml" Id="Rf08d88f387cb4e4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1b7d93c0c2643ba" /><Relationship Type="http://schemas.openxmlformats.org/officeDocument/2006/relationships/notesMaster" Target="/ppt/notesMasters/notesMaster1.xml" Id="R9c679f9c5169402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725d9b0c3a34f09" /><Relationship Type="http://schemas.openxmlformats.org/officeDocument/2006/relationships/notesMaster" Target="/ppt/notesMasters/notesMaster1.xml" Id="R086f6beebae2417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d68906ccc8a42b0" /><Relationship Type="http://schemas.openxmlformats.org/officeDocument/2006/relationships/notesMaster" Target="/ppt/notesMasters/notesMaster1.xml" Id="R190fe0ded0fb43a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1ee5640b5a64122" /><Relationship Type="http://schemas.openxmlformats.org/officeDocument/2006/relationships/notesMaster" Target="/ppt/notesMasters/notesMaster1.xml" Id="R5885cf195c2647b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ebcec00ee4e4bd5" /><Relationship Type="http://schemas.openxmlformats.org/officeDocument/2006/relationships/notesMaster" Target="/ppt/notesMasters/notesMaster1.xml" Id="R3db131bebe4b472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5c052b397484183" /><Relationship Type="http://schemas.openxmlformats.org/officeDocument/2006/relationships/notesMaster" Target="/ppt/notesMasters/notesMaster1.xml" Id="R3a611dd08d94462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a15cb2977a24de8" /><Relationship Type="http://schemas.openxmlformats.org/officeDocument/2006/relationships/notesMaster" Target="/ppt/notesMasters/notesMaster1.xml" Id="R53d349042f4d4f9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0299b4fd5ba44b4" /><Relationship Type="http://schemas.openxmlformats.org/officeDocument/2006/relationships/notesMaster" Target="/ppt/notesMasters/notesMaster1.xml" Id="R50a9784c7fc4479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23a070add4d432e" /><Relationship Type="http://schemas.openxmlformats.org/officeDocument/2006/relationships/notesMaster" Target="/ppt/notesMasters/notesMaster1.xml" Id="R1215dceb24e44f5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destination: factor 15 into 3 and 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Shor worked-example brief, recomputed for N=15.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15 as the approachable example before discussing large RSA-scale integers.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presentation brief.</a:t>
            </a:r>
          </a:p>
          <a:p xmlns:a="http://schemas.openxmlformats.org/drawingml/2006/main">
            <a:r>
              <a:t>- Peter W. Shor, “Algorithms for quantum computation,” 1994.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the split: quantum period finding, then classical validation and gcd.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Shor worked-example brief.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deterministic teaching choice is a=2. Since gcd(2,15)=1, period finding is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Exact arithmetic recomputed for N=15.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through 2⁴=16, then 16=1×15+1. The retained remainder is therefore 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Exact modular arithmetic recomputed for N=15.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each row as power, quotient-times-modulus, then remainder. Rows x=4 onward repeat the first cycle.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Exact modular arithmetic recomputed for N=15.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residue sequence 1, 2, 4, 8 returns to 1 after four steps, so r = 4. The next visible values 2 and 4 confirm that the second period repeats the first.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Exact modular arithmetic recomputed for N=15.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QFT schematic has four peaks to represent the hidden period. Classical post-processing reconstructs r=4.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quantum explanation, adapted for N=15.</a:t>
            </a:r>
          </a:p>
          <a:p xmlns:a="http://schemas.openxmlformats.org/drawingml/2006/main">
            <a:r>
              <a:t>- Peter W. Shor, 1994.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Validate r before using it. Here r is even and y=2²=4 is neither +1 nor −1 modulo 15.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Exact arithmetic recomputed for N=15.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the congruence to ordinary divisibility: 2⁴=16=15×1+1, so 15=2⁴−1=(4−1)(4+1).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Exact arithmetic recomputed for N=15.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two gcd calculations return the non-trivial factors 3 and 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Exact arithmetic recomputed for N=15.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the result and switch to the interactive demo if the audience wants to explore another two-digit number.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interactive demo: docs/demos/shor-factoring/index.html.</a:t>
            </a:r>
          </a:p>
          <a:p xmlns:a="http://schemas.openxmlformats.org/drawingml/2006/main">
            <a:r>
              <a:t>- Exact arithmetic recomputed for N=15.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0aca0ef5b34e0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9d2cebee07a4b71" /><Relationship Type="http://schemas.openxmlformats.org/officeDocument/2006/relationships/slideLayout" Target="/ppt/slideLayouts/slideLayout1.xml" Id="R32e4aa0eb2424c5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2e4aa0eb2424c5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9ebd75faad46de" /><Relationship Type="http://schemas.openxmlformats.org/officeDocument/2006/relationships/notesSlide" Target="/ppt/notesSlides/notesSlide1.xml" Id="R4f8cca7a12ca4be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586dd2f45d4744" /><Relationship Type="http://schemas.openxmlformats.org/officeDocument/2006/relationships/notesSlide" Target="/ppt/notesSlides/notesSlide2.xml" Id="R739b7a7043714a7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ea4f76ab224284" /><Relationship Type="http://schemas.openxmlformats.org/officeDocument/2006/relationships/notesSlide" Target="/ppt/notesSlides/notesSlide3.xml" Id="R4ad2559af99c46d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39f4c3dc2b443f" /><Relationship Type="http://schemas.openxmlformats.org/officeDocument/2006/relationships/notesSlide" Target="/ppt/notesSlides/notesSlide4.xml" Id="R8e581c2d7fb7484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9bc927afd54470" /><Relationship Type="http://schemas.openxmlformats.org/officeDocument/2006/relationships/notesSlide" Target="/ppt/notesSlides/notesSlide5.xml" Id="Re30603a8f410476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8677bc51744284" /><Relationship Type="http://schemas.openxmlformats.org/officeDocument/2006/relationships/notesSlide" Target="/ppt/notesSlides/notesSlide6.xml" Id="R03fd6b2b2c7247d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584274b1c64b7f" /><Relationship Type="http://schemas.openxmlformats.org/officeDocument/2006/relationships/notesSlide" Target="/ppt/notesSlides/notesSlide7.xml" Id="Ra84d9aee8d3a487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45e2ceab0d428f" /><Relationship Type="http://schemas.openxmlformats.org/officeDocument/2006/relationships/notesSlide" Target="/ppt/notesSlides/notesSlide8.xml" Id="R003a6aaedfc747c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05ee3d8e0a4866" /><Relationship Type="http://schemas.openxmlformats.org/officeDocument/2006/relationships/notesSlide" Target="/ppt/notesSlides/notesSlide9.xml" Id="R36c45fd5dc59426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bb8ce1ffe247b1" /><Relationship Type="http://schemas.openxmlformats.org/officeDocument/2006/relationships/notesSlide" Target="/ppt/notesSlides/notesSlide10.xml" Id="Rc86daec809494a1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636f2dc6b249aa" /><Relationship Type="http://schemas.openxmlformats.org/officeDocument/2006/relationships/notesSlide" Target="/ppt/notesSlides/notesSlide11.xml" Id="R2972c55b956b471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6aa6a76cdc44f8" /><Relationship Type="http://schemas.openxmlformats.org/officeDocument/2006/relationships/image" Target="/ppt/media/image.png" Id="R2183b5e027a34035" /><Relationship Type="http://schemas.openxmlformats.org/officeDocument/2006/relationships/hyperlink" Target="file:///Users/spreuss/Documents/skipp-algo/docs/demos/shor-factoring/index.html" TargetMode="External" Id="R9cb5b5653384407f" /><Relationship Type="http://schemas.openxmlformats.org/officeDocument/2006/relationships/notesSlide" Target="/ppt/notesSlides/notesSlide12.xml" Id="Rb719ba66ea5a48f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quantum-field">
            <a:extLst xmlns:a="http://schemas.openxmlformats.org/drawingml/2006/main">
              <a:ext uri="{FF2B5EF4-FFF2-40B4-BE49-F238E27FC236}">
                <a16:creationId xmlns:a16="http://schemas.microsoft.com/office/drawing/2014/main" id="{CB807C86-C440-4561-B0D6-9F7D2D859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762000"/>
            <a:ext cx="3905250" cy="390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2745"/>
          </a:solidFill>
          <a:ln xmlns:a="http://schemas.openxmlformats.org/drawingml/2006/main" w="19050">
            <a:solidFill>
              <a:srgbClr val="63A8C8"/>
            </a:solidFill>
            <a:prstDash val="solid"/>
          </a:ln>
        </p:spPr>
      </p:sp>
      <p:sp>
        <p:nvSpPr>
          <p:cNvPr id="2" name="factor-orbit-inner">
            <a:extLst xmlns:a="http://schemas.openxmlformats.org/drawingml/2006/main">
              <a:ext uri="{FF2B5EF4-FFF2-40B4-BE49-F238E27FC236}">
                <a16:creationId xmlns:a16="http://schemas.microsoft.com/office/drawing/2014/main" id="{2D3FE575-CE38-4B65-A56D-FAA94706C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466850"/>
            <a:ext cx="2495550" cy="2495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1E36"/>
          </a:solidFill>
          <a:ln xmlns:a="http://schemas.openxmlformats.org/drawingml/2006/main" w="19050">
            <a:solidFill>
              <a:srgbClr val="23496D"/>
            </a:solidFill>
            <a:prstDash val="solid"/>
          </a:ln>
        </p:spPr>
      </p:sp>
      <p:sp>
        <p:nvSpPr>
          <p:cNvPr id="3" name="hero-number">
            <a:extLst xmlns:a="http://schemas.openxmlformats.org/drawingml/2006/main">
              <a:ext uri="{FF2B5EF4-FFF2-40B4-BE49-F238E27FC236}">
                <a16:creationId xmlns:a16="http://schemas.microsoft.com/office/drawing/2014/main" id="{DA6CA5F5-4E95-41D4-95C2-B1268D4BD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19300"/>
            <a:ext cx="190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5850" b="1">
                <a:solidFill>
                  <a:srgbClr val="F4F8FC"/>
                </a:solidFill>
                <a:latin typeface="Courier New"/>
                <a:ea typeface="Courier New"/>
                <a:cs typeface="Courier New"/>
              </a:defRPr>
            </a:pPr>
            <a:r>
              <a:rPr sz="5850" b="1">
                <a:solidFill>
                  <a:srgbClr val="F4F8FC"/>
                </a:solidFill>
                <a:latin typeface="Courier New"/>
                <a:ea typeface="Courier New"/>
                <a:cs typeface="Courier New"/>
              </a:rPr>
              <a:t>15</a:t>
            </a:r>
          </a:p>
        </p:txBody>
      </p:sp>
      <p:sp>
        <p:nvSpPr>
          <p:cNvPr id="4" name="factor-three">
            <a:extLst xmlns:a="http://schemas.openxmlformats.org/drawingml/2006/main">
              <a:ext uri="{FF2B5EF4-FFF2-40B4-BE49-F238E27FC236}">
                <a16:creationId xmlns:a16="http://schemas.microsoft.com/office/drawing/2014/main" id="{E222DC6B-1A94-459F-A746-F735B0981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447800"/>
            <a:ext cx="590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700" b="1">
                <a:solidFill>
                  <a:srgbClr val="06172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6172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" name="factor-three-bg">
            <a:extLst xmlns:a="http://schemas.openxmlformats.org/drawingml/2006/main">
              <a:ext uri="{FF2B5EF4-FFF2-40B4-BE49-F238E27FC236}">
                <a16:creationId xmlns:a16="http://schemas.microsoft.com/office/drawing/2014/main" id="{A75AD2AC-63A0-43AA-BC68-8384666C5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4478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DE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actor-three-front">
            <a:extLst xmlns:a="http://schemas.openxmlformats.org/drawingml/2006/main">
              <a:ext uri="{FF2B5EF4-FFF2-40B4-BE49-F238E27FC236}">
                <a16:creationId xmlns:a16="http://schemas.microsoft.com/office/drawing/2014/main" id="{E2E24F6D-0763-4D8C-85C8-44A81A1A4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476375"/>
            <a:ext cx="590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06172A"/>
                </a:solidFill>
                <a:latin typeface="Courier New"/>
                <a:ea typeface="Courier New"/>
                <a:cs typeface="Courier New"/>
              </a:defRPr>
            </a:pPr>
            <a:r>
              <a:rPr sz="2550" b="1">
                <a:solidFill>
                  <a:srgbClr val="06172A"/>
                </a:solidFill>
                <a:latin typeface="Courier New"/>
                <a:ea typeface="Courier New"/>
                <a:cs typeface="Courier New"/>
              </a:rPr>
              <a:t>3</a:t>
            </a:r>
          </a:p>
        </p:txBody>
      </p:sp>
      <p:sp>
        <p:nvSpPr>
          <p:cNvPr id="7" name="factor-seven-bg">
            <a:extLst xmlns:a="http://schemas.openxmlformats.org/drawingml/2006/main">
              <a:ext uri="{FF2B5EF4-FFF2-40B4-BE49-F238E27FC236}">
                <a16:creationId xmlns:a16="http://schemas.microsoft.com/office/drawing/2014/main" id="{2F532682-5137-444D-9B30-E2164FDFC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3337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7D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actor-seven">
            <a:extLst xmlns:a="http://schemas.openxmlformats.org/drawingml/2006/main">
              <a:ext uri="{FF2B5EF4-FFF2-40B4-BE49-F238E27FC236}">
                <a16:creationId xmlns:a16="http://schemas.microsoft.com/office/drawing/2014/main" id="{ADDCCA17-D9EA-4E8B-81EF-F07680269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362325"/>
            <a:ext cx="590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06172A"/>
                </a:solidFill>
                <a:latin typeface="Courier New"/>
                <a:ea typeface="Courier New"/>
                <a:cs typeface="Courier New"/>
              </a:defRPr>
            </a:pPr>
            <a:r>
              <a:rPr sz="2550" b="1">
                <a:solidFill>
                  <a:srgbClr val="06172A"/>
                </a:solidFill>
                <a:latin typeface="Courier New"/>
                <a:ea typeface="Courier New"/>
                <a:cs typeface="Courier New"/>
              </a:rPr>
              <a:t>5</a:t>
            </a:r>
          </a:p>
        </p:txBody>
      </p:sp>
      <p:sp>
        <p:nvSpPr>
          <p:cNvPr id="9" name="title-eyebrow">
            <a:extLst xmlns:a="http://schemas.openxmlformats.org/drawingml/2006/main">
              <a:ext uri="{FF2B5EF4-FFF2-40B4-BE49-F238E27FC236}">
                <a16:creationId xmlns:a16="http://schemas.microsoft.com/office/drawing/2014/main" id="{C77393C8-DA3B-4491-9A23-11504DDD8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63A8C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3A8C8"/>
                </a:solidFill>
                <a:latin typeface="Arial"/>
                <a:ea typeface="Arial"/>
                <a:cs typeface="Arial"/>
              </a:rPr>
              <a:t>THE BIG IDEA · IN PLAIN WORDS</a:t>
            </a:r>
          </a:p>
        </p:txBody>
      </p:sp>
      <p:sp>
        <p:nvSpPr>
          <p:cNvPr id="10" name="deck-title">
            <a:extLst xmlns:a="http://schemas.openxmlformats.org/drawingml/2006/main">
              <a:ext uri="{FF2B5EF4-FFF2-40B4-BE49-F238E27FC236}">
                <a16:creationId xmlns:a16="http://schemas.microsoft.com/office/drawing/2014/main" id="{319A4E99-7CE4-4A8A-B269-5DC05B1FF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666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9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51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F4F8FC"/>
                </a:solidFill>
                <a:latin typeface="Arial"/>
                <a:ea typeface="Arial"/>
                <a:cs typeface="Arial"/>
              </a:rPr>
              <a:t>A quantum shortcut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51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F4F8FC"/>
                </a:solidFill>
                <a:latin typeface="Arial"/>
                <a:ea typeface="Arial"/>
                <a:cs typeface="Arial"/>
              </a:rPr>
              <a:t>for factoring numbers</a:t>
            </a:r>
          </a:p>
        </p:txBody>
      </p:sp>
      <p:sp>
        <p:nvSpPr>
          <p:cNvPr id="11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99A46DC8-72E8-40A1-98A9-817B8563F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C9D7E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C9D7E7"/>
                </a:solidFill>
                <a:latin typeface="Arial"/>
                <a:ea typeface="Arial"/>
                <a:cs typeface="Arial"/>
              </a:rPr>
              <a:t>A worked example: N = 15</a:t>
            </a:r>
          </a:p>
        </p:txBody>
      </p:sp>
      <p:sp>
        <p:nvSpPr>
          <p:cNvPr id="12" name="title-result">
            <a:extLst xmlns:a="http://schemas.openxmlformats.org/drawingml/2006/main">
              <a:ext uri="{FF2B5EF4-FFF2-40B4-BE49-F238E27FC236}">
                <a16:creationId xmlns:a16="http://schemas.microsoft.com/office/drawing/2014/main" id="{97C38C11-1AA1-4BCB-ABF5-ABFA8A1B8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495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8CDE72"/>
                </a:solidFill>
                <a:latin typeface="Courier New"/>
                <a:ea typeface="Courier New"/>
                <a:cs typeface="Courier New"/>
              </a:defRPr>
            </a:pPr>
            <a:r>
              <a:rPr sz="3600" b="1">
                <a:solidFill>
                  <a:srgbClr val="8CDE72"/>
                </a:solidFill>
                <a:latin typeface="Courier New"/>
                <a:ea typeface="Courier New"/>
                <a:cs typeface="Courier New"/>
              </a:rPr>
              <a:t>15 = 3 × 5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51A149A4-E8FA-470B-A5CB-1C2D9E65D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8FA9C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FA9C3"/>
                </a:solidFill>
                <a:latin typeface="Arial"/>
                <a:ea typeface="Arial"/>
                <a:cs typeface="Arial"/>
              </a:rPr>
              <a:t>SHOR'S ALGORITHM · INTERACTIVE WALKTHROUGH</a:t>
            </a:r>
          </a:p>
        </p:txBody>
      </p:sp>
    </p:spTree>
    <p:extLst>
      <p:ext uri="{BB962C8B-B14F-4D97-AF65-F5344CB8AC3E}">
        <p14:creationId xmlns:p14="http://schemas.microsoft.com/office/powerpoint/2010/main" val="15483113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6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15C3BC5B-9585-4AA8-8AF8-A0FA0F99B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63A8C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3A8C8"/>
                </a:solidFill>
                <a:latin typeface="Arial"/>
                <a:ea typeface="Arial"/>
                <a:cs typeface="Arial"/>
              </a:rPr>
              <a:t>THE CHALLENGE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4E7D21A-2E4A-4417-BEB1-85C49F9E9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8FC"/>
                </a:solidFill>
                <a:latin typeface="Arial"/>
                <a:ea typeface="Arial"/>
                <a:cs typeface="Arial"/>
              </a:rPr>
              <a:t>Small numbers are easy. Large numbers are not.</a:t>
            </a:r>
          </a:p>
        </p:txBody>
      </p:sp>
      <p:sp>
        <p:nvSpPr>
          <p:cNvPr id="3" name="rule-72-153">
            <a:extLst xmlns:a="http://schemas.openxmlformats.org/drawingml/2006/main">
              <a:ext uri="{FF2B5EF4-FFF2-40B4-BE49-F238E27FC236}">
                <a16:creationId xmlns:a16="http://schemas.microsoft.com/office/drawing/2014/main" id="{AE5EE33A-3438-4F6C-B4C7-E422175AC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573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9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6AE9742-D1D7-4DA5-BEC9-D91E4C92F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667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8FA9C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FA9C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small-label">
            <a:extLst xmlns:a="http://schemas.openxmlformats.org/drawingml/2006/main">
              <a:ext uri="{FF2B5EF4-FFF2-40B4-BE49-F238E27FC236}">
                <a16:creationId xmlns:a16="http://schemas.microsoft.com/office/drawing/2014/main" id="{73D6E8A0-226D-48B9-8DAF-1E0620D1D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8CDE7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8CDE72"/>
                </a:solidFill>
                <a:latin typeface="Arial"/>
                <a:ea typeface="Arial"/>
                <a:cs typeface="Arial"/>
              </a:rPr>
              <a:t>A familiar number</a:t>
            </a:r>
          </a:p>
        </p:txBody>
      </p:sp>
      <p:sp>
        <p:nvSpPr>
          <p:cNvPr id="6" name="small-factorization-background">
            <a:extLst xmlns:a="http://schemas.openxmlformats.org/drawingml/2006/main">
              <a:ext uri="{FF2B5EF4-FFF2-40B4-BE49-F238E27FC236}">
                <a16:creationId xmlns:a16="http://schemas.microsoft.com/office/drawing/2014/main" id="{426C7F5F-486E-4E7E-8AF2-885AE2F76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572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E2745"/>
          </a:solidFill>
          <a:ln xmlns:a="http://schemas.openxmlformats.org/drawingml/2006/main" w="9525">
            <a:solidFill>
              <a:srgbClr val="23496D"/>
            </a:solidFill>
            <a:prstDash val="solid"/>
          </a:ln>
        </p:spPr>
      </p:sp>
      <p:sp>
        <p:nvSpPr>
          <p:cNvPr id="7" name="small-factorization">
            <a:extLst xmlns:a="http://schemas.openxmlformats.org/drawingml/2006/main">
              <a:ext uri="{FF2B5EF4-FFF2-40B4-BE49-F238E27FC236}">
                <a16:creationId xmlns:a16="http://schemas.microsoft.com/office/drawing/2014/main" id="{9D7A471A-2876-4C47-B725-B8DFF8EB7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14600"/>
            <a:ext cx="4152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500" b="1">
                <a:solidFill>
                  <a:srgbClr val="F4F8FC"/>
                </a:solidFill>
                <a:latin typeface="Courier New"/>
                <a:ea typeface="Courier New"/>
                <a:cs typeface="Courier New"/>
              </a:defRPr>
            </a:pPr>
            <a:r>
              <a:rPr sz="4500" b="1">
                <a:solidFill>
                  <a:srgbClr val="F4F8FC"/>
                </a:solidFill>
                <a:latin typeface="Courier New"/>
                <a:ea typeface="Courier New"/>
                <a:cs typeface="Courier New"/>
              </a:rPr>
              <a:t>15 = 3 × 5</a:t>
            </a:r>
          </a:p>
        </p:txBody>
      </p:sp>
      <p:sp>
        <p:nvSpPr>
          <p:cNvPr id="8" name="small-explanation">
            <a:extLst xmlns:a="http://schemas.openxmlformats.org/drawingml/2006/main">
              <a:ext uri="{FF2B5EF4-FFF2-40B4-BE49-F238E27FC236}">
                <a16:creationId xmlns:a16="http://schemas.microsoft.com/office/drawing/2014/main" id="{41CAA38D-56B1-4794-B943-9AD462DF8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447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C9D7E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9D7E7"/>
                </a:solidFill>
                <a:latin typeface="Arial"/>
                <a:ea typeface="Arial"/>
                <a:cs typeface="Arial"/>
              </a:rPr>
              <a:t>We can recognize the factors almost immediately.</a:t>
            </a:r>
          </a:p>
        </p:txBody>
      </p:sp>
      <p:sp>
        <p:nvSpPr>
          <p:cNvPr id="9" name="large-label">
            <a:extLst xmlns:a="http://schemas.openxmlformats.org/drawingml/2006/main">
              <a:ext uri="{FF2B5EF4-FFF2-40B4-BE49-F238E27FC236}">
                <a16:creationId xmlns:a16="http://schemas.microsoft.com/office/drawing/2014/main" id="{638502A3-72B7-4CA9-8D8B-346CCF4AE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240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47D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47D3D"/>
                </a:solidFill>
                <a:latin typeface="Arial"/>
                <a:ea typeface="Arial"/>
                <a:cs typeface="Arial"/>
              </a:rPr>
              <a:t>A cryptographic-scale number</a:t>
            </a:r>
          </a:p>
        </p:txBody>
      </p:sp>
      <p:sp>
        <p:nvSpPr>
          <p:cNvPr id="10" name="large-factorization-background">
            <a:extLst xmlns:a="http://schemas.openxmlformats.org/drawingml/2006/main">
              <a:ext uri="{FF2B5EF4-FFF2-40B4-BE49-F238E27FC236}">
                <a16:creationId xmlns:a16="http://schemas.microsoft.com/office/drawing/2014/main" id="{A874984D-9393-499E-9729-075C68C2D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81250"/>
            <a:ext cx="50673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E2745"/>
          </a:solidFill>
          <a:ln xmlns:a="http://schemas.openxmlformats.org/drawingml/2006/main" w="9525">
            <a:solidFill>
              <a:srgbClr val="23496D"/>
            </a:solidFill>
            <a:prstDash val="solid"/>
          </a:ln>
        </p:spPr>
      </p:sp>
      <p:sp>
        <p:nvSpPr>
          <p:cNvPr id="11" name="large-factorization">
            <a:extLst xmlns:a="http://schemas.openxmlformats.org/drawingml/2006/main">
              <a:ext uri="{FF2B5EF4-FFF2-40B4-BE49-F238E27FC236}">
                <a16:creationId xmlns:a16="http://schemas.microsoft.com/office/drawing/2014/main" id="{F8C7D169-EABC-490E-A9AC-61F73619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14600"/>
            <a:ext cx="4648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500" b="1">
                <a:solidFill>
                  <a:srgbClr val="F4F8FC"/>
                </a:solidFill>
                <a:latin typeface="Courier New"/>
                <a:ea typeface="Courier New"/>
                <a:cs typeface="Courier New"/>
              </a:defRPr>
            </a:pPr>
            <a:r>
              <a:rPr sz="4500" b="1">
                <a:solidFill>
                  <a:srgbClr val="F4F8FC"/>
                </a:solidFill>
                <a:latin typeface="Courier New"/>
                <a:ea typeface="Courier New"/>
                <a:cs typeface="Courier New"/>
              </a:rPr>
              <a:t>N = ? × ?</a:t>
            </a:r>
          </a:p>
        </p:txBody>
      </p:sp>
      <p:sp>
        <p:nvSpPr>
          <p:cNvPr id="12" name="large-explanation">
            <a:extLst xmlns:a="http://schemas.openxmlformats.org/drawingml/2006/main">
              <a:ext uri="{FF2B5EF4-FFF2-40B4-BE49-F238E27FC236}">
                <a16:creationId xmlns:a16="http://schemas.microsoft.com/office/drawing/2014/main" id="{B3687DC6-2F25-4A3A-BDC9-96FE5A98C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57600"/>
            <a:ext cx="495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C9D7E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9D7E7"/>
                </a:solidFill>
                <a:latin typeface="Arial"/>
                <a:ea typeface="Arial"/>
                <a:cs typeface="Arial"/>
              </a:rPr>
              <a:t>The arithmetic is the same—but searching for the factors becomes the bottleneck.</a:t>
            </a:r>
          </a:p>
        </p:txBody>
      </p:sp>
      <p:sp>
        <p:nvSpPr>
          <p:cNvPr id="13" name="rule-626-202">
            <a:extLst xmlns:a="http://schemas.openxmlformats.org/drawingml/2006/main">
              <a:ext uri="{FF2B5EF4-FFF2-40B4-BE49-F238E27FC236}">
                <a16:creationId xmlns:a16="http://schemas.microsoft.com/office/drawing/2014/main" id="{FED5638A-E0A0-4A57-AE7C-48C68DE38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924050"/>
            <a:ext cx="190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9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hallenge-takeaway">
            <a:extLst xmlns:a="http://schemas.openxmlformats.org/drawingml/2006/main">
              <a:ext uri="{FF2B5EF4-FFF2-40B4-BE49-F238E27FC236}">
                <a16:creationId xmlns:a16="http://schemas.microsoft.com/office/drawing/2014/main" id="{2B74EDBE-91BC-42B2-8A0F-E8652E05E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4350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75" b="1">
                <a:solidFill>
                  <a:srgbClr val="63A8C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63A8C8"/>
                </a:solidFill>
                <a:latin typeface="Arial"/>
                <a:ea typeface="Arial"/>
                <a:cs typeface="Arial"/>
              </a:rPr>
              <a:t>Shor's insight: solve a different problem that exposes the factors.</a:t>
            </a:r>
          </a:p>
        </p:txBody>
      </p:sp>
      <p:sp>
        <p:nvSpPr>
          <p:cNvPr id="15" name="footer">
            <a:extLst xmlns:a="http://schemas.openxmlformats.org/drawingml/2006/main">
              <a:ext uri="{FF2B5EF4-FFF2-40B4-BE49-F238E27FC236}">
                <a16:creationId xmlns:a16="http://schemas.microsoft.com/office/drawing/2014/main" id="{4013E047-607F-4C10-B176-963F0A5BC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8FA9C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FA9C3"/>
                </a:solidFill>
                <a:latin typeface="Arial"/>
                <a:ea typeface="Arial"/>
                <a:cs typeface="Arial"/>
              </a:rPr>
              <a:t>SHOR'S ALGORITHM · FACTORING N = 15</a:t>
            </a:r>
          </a:p>
        </p:txBody>
      </p:sp>
    </p:spTree>
    <p:extLst>
      <p:ext uri="{BB962C8B-B14F-4D97-AF65-F5344CB8AC3E}">
        <p14:creationId xmlns:p14="http://schemas.microsoft.com/office/powerpoint/2010/main" val="4940070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6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48A33E7F-BB80-4060-BA3C-5F4F96DA0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63A8C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3A8C8"/>
                </a:solidFill>
                <a:latin typeface="Arial"/>
                <a:ea typeface="Arial"/>
                <a:cs typeface="Arial"/>
              </a:rPr>
              <a:t>THE REFRAME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F148960-8EC6-4186-B83D-AA4D9A5FB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8FC"/>
                </a:solidFill>
                <a:latin typeface="Arial"/>
                <a:ea typeface="Arial"/>
                <a:cs typeface="Arial"/>
              </a:rPr>
              <a:t>Shor turns factoring into period finding.</a:t>
            </a:r>
          </a:p>
        </p:txBody>
      </p:sp>
      <p:sp>
        <p:nvSpPr>
          <p:cNvPr id="3" name="rule-72-153">
            <a:extLst xmlns:a="http://schemas.openxmlformats.org/drawingml/2006/main">
              <a:ext uri="{FF2B5EF4-FFF2-40B4-BE49-F238E27FC236}">
                <a16:creationId xmlns:a16="http://schemas.microsoft.com/office/drawing/2014/main" id="{62EFE1B5-B197-4B8F-AC78-A215C3865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573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9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323A6DA-5C45-4357-8591-C1BD18ADD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667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8FA9C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FA9C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period-finding-job-background">
            <a:extLst xmlns:a="http://schemas.openxmlformats.org/drawingml/2006/main">
              <a:ext uri="{FF2B5EF4-FFF2-40B4-BE49-F238E27FC236}">
                <a16:creationId xmlns:a16="http://schemas.microsoft.com/office/drawing/2014/main" id="{8AFC4C1E-A69C-4557-8FD8-3877759D6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828800"/>
            <a:ext cx="9525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E2745"/>
          </a:solidFill>
          <a:ln xmlns:a="http://schemas.openxmlformats.org/drawingml/2006/main" w="9525">
            <a:solidFill>
              <a:srgbClr val="63A8C8"/>
            </a:solidFill>
            <a:prstDash val="solid"/>
          </a:ln>
        </p:spPr>
      </p:sp>
      <p:sp>
        <p:nvSpPr>
          <p:cNvPr id="6" name="period-finding-job">
            <a:extLst xmlns:a="http://schemas.openxmlformats.org/drawingml/2006/main">
              <a:ext uri="{FF2B5EF4-FFF2-40B4-BE49-F238E27FC236}">
                <a16:creationId xmlns:a16="http://schemas.microsoft.com/office/drawing/2014/main" id="{31C50A63-655B-4B53-B48C-435FBABAB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962150"/>
            <a:ext cx="9105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600" b="1">
                <a:solidFill>
                  <a:srgbClr val="F4F8FC"/>
                </a:solidFill>
                <a:latin typeface="Courier New"/>
                <a:ea typeface="Courier New"/>
                <a:cs typeface="Courier New"/>
              </a:defRPr>
            </a:pPr>
            <a:r>
              <a:rPr sz="3600" b="1">
                <a:solidFill>
                  <a:srgbClr val="F4F8FC"/>
                </a:solidFill>
                <a:latin typeface="Courier New"/>
                <a:ea typeface="Courier New"/>
                <a:cs typeface="Courier New"/>
              </a:rPr>
              <a:t>Find the period of  aˣ  mod  N</a:t>
            </a:r>
          </a:p>
        </p:txBody>
      </p:sp>
      <p:sp>
        <p:nvSpPr>
          <p:cNvPr id="7" name="classical-one">
            <a:extLst xmlns:a="http://schemas.openxmlformats.org/drawingml/2006/main">
              <a:ext uri="{FF2B5EF4-FFF2-40B4-BE49-F238E27FC236}">
                <a16:creationId xmlns:a16="http://schemas.microsoft.com/office/drawing/2014/main" id="{91E2B2B1-B33A-4BF5-97EE-D1559776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957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8FA9C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8FA9C3"/>
                </a:solidFill>
                <a:latin typeface="Arial"/>
                <a:ea typeface="Arial"/>
                <a:cs typeface="Arial"/>
              </a:rPr>
              <a:t>CLASSICAL</a:t>
            </a:r>
          </a:p>
        </p:txBody>
      </p:sp>
      <p:sp>
        <p:nvSpPr>
          <p:cNvPr id="8" name="choose-a">
            <a:extLst xmlns:a="http://schemas.openxmlformats.org/drawingml/2006/main">
              <a:ext uri="{FF2B5EF4-FFF2-40B4-BE49-F238E27FC236}">
                <a16:creationId xmlns:a16="http://schemas.microsoft.com/office/drawing/2014/main" id="{82DB6E28-D30B-41F4-ABB7-603B44B9D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48125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4F8FC"/>
                </a:solidFill>
                <a:latin typeface="Arial"/>
                <a:ea typeface="Arial"/>
                <a:cs typeface="Arial"/>
              </a:rPr>
              <a:t>Choose a</a:t>
            </a:r>
          </a:p>
        </p:txBody>
      </p:sp>
      <p:sp>
        <p:nvSpPr>
          <p:cNvPr id="9" name="flow-arrow-one">
            <a:extLst xmlns:a="http://schemas.openxmlformats.org/drawingml/2006/main">
              <a:ext uri="{FF2B5EF4-FFF2-40B4-BE49-F238E27FC236}">
                <a16:creationId xmlns:a16="http://schemas.microsoft.com/office/drawing/2014/main" id="{537A9DCF-8226-4E91-A89B-089BF027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105275"/>
            <a:ext cx="742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375" b="0">
                <a:solidFill>
                  <a:srgbClr val="63A8C8"/>
                </a:solidFill>
                <a:latin typeface="Arial"/>
                <a:ea typeface="Arial"/>
                <a:cs typeface="Arial"/>
              </a:defRPr>
            </a:pPr>
            <a:r>
              <a:rPr sz="3375" b="0">
                <a:solidFill>
                  <a:srgbClr val="63A8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quantum-label">
            <a:extLst xmlns:a="http://schemas.openxmlformats.org/drawingml/2006/main">
              <a:ext uri="{FF2B5EF4-FFF2-40B4-BE49-F238E27FC236}">
                <a16:creationId xmlns:a16="http://schemas.microsoft.com/office/drawing/2014/main" id="{32A2FB4B-8D2F-441F-AD95-EA7B7C58E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6957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47D3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47D3D"/>
                </a:solidFill>
                <a:latin typeface="Arial"/>
                <a:ea typeface="Arial"/>
                <a:cs typeface="Arial"/>
              </a:rPr>
              <a:t>QUANTUM</a:t>
            </a:r>
          </a:p>
        </p:txBody>
      </p:sp>
      <p:sp>
        <p:nvSpPr>
          <p:cNvPr id="11" name="find-r">
            <a:extLst xmlns:a="http://schemas.openxmlformats.org/drawingml/2006/main">
              <a:ext uri="{FF2B5EF4-FFF2-40B4-BE49-F238E27FC236}">
                <a16:creationId xmlns:a16="http://schemas.microsoft.com/office/drawing/2014/main" id="{4923448E-CBA6-4315-8938-75152AD53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048125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700" b="1">
                <a:solidFill>
                  <a:srgbClr val="F47D3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7D3D"/>
                </a:solidFill>
                <a:latin typeface="Arial"/>
                <a:ea typeface="Arial"/>
                <a:cs typeface="Arial"/>
              </a:rPr>
              <a:t>Find r</a:t>
            </a:r>
          </a:p>
        </p:txBody>
      </p:sp>
      <p:sp>
        <p:nvSpPr>
          <p:cNvPr id="12" name="flow-arrow-two">
            <a:extLst xmlns:a="http://schemas.openxmlformats.org/drawingml/2006/main">
              <a:ext uri="{FF2B5EF4-FFF2-40B4-BE49-F238E27FC236}">
                <a16:creationId xmlns:a16="http://schemas.microsoft.com/office/drawing/2014/main" id="{9945698B-344C-4388-9032-F69EDDFD2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105275"/>
            <a:ext cx="742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375" b="0">
                <a:solidFill>
                  <a:srgbClr val="63A8C8"/>
                </a:solidFill>
                <a:latin typeface="Arial"/>
                <a:ea typeface="Arial"/>
                <a:cs typeface="Arial"/>
              </a:defRPr>
            </a:pPr>
            <a:r>
              <a:rPr sz="3375" b="0">
                <a:solidFill>
                  <a:srgbClr val="63A8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classical-two">
            <a:extLst xmlns:a="http://schemas.openxmlformats.org/drawingml/2006/main">
              <a:ext uri="{FF2B5EF4-FFF2-40B4-BE49-F238E27FC236}">
                <a16:creationId xmlns:a16="http://schemas.microsoft.com/office/drawing/2014/main" id="{F794EC35-3315-4924-AD18-4EC67F7AC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957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8FA9C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8FA9C3"/>
                </a:solidFill>
                <a:latin typeface="Arial"/>
                <a:ea typeface="Arial"/>
                <a:cs typeface="Arial"/>
              </a:rPr>
              <a:t>CLASSICAL</a:t>
            </a:r>
          </a:p>
        </p:txBody>
      </p:sp>
      <p:sp>
        <p:nvSpPr>
          <p:cNvPr id="14" name="calculate-gcd">
            <a:extLst xmlns:a="http://schemas.openxmlformats.org/drawingml/2006/main">
              <a:ext uri="{FF2B5EF4-FFF2-40B4-BE49-F238E27FC236}">
                <a16:creationId xmlns:a16="http://schemas.microsoft.com/office/drawing/2014/main" id="{80017ED2-E9F5-4C9D-8623-96F2212C9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48125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4F8FC"/>
                </a:solidFill>
                <a:latin typeface="Arial"/>
                <a:ea typeface="Arial"/>
                <a:cs typeface="Arial"/>
              </a:rPr>
              <a:t>Calculate gcd</a:t>
            </a:r>
          </a:p>
        </p:txBody>
      </p:sp>
      <p:sp>
        <p:nvSpPr>
          <p:cNvPr id="15" name="rule-94-513">
            <a:extLst xmlns:a="http://schemas.openxmlformats.org/drawingml/2006/main">
              <a:ext uri="{FF2B5EF4-FFF2-40B4-BE49-F238E27FC236}">
                <a16:creationId xmlns:a16="http://schemas.microsoft.com/office/drawing/2014/main" id="{1A22ADCB-5645-43C6-87D5-450BB86DB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86325"/>
            <a:ext cx="2190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DE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ule-422-513">
            <a:extLst xmlns:a="http://schemas.openxmlformats.org/drawingml/2006/main">
              <a:ext uri="{FF2B5EF4-FFF2-40B4-BE49-F238E27FC236}">
                <a16:creationId xmlns:a16="http://schemas.microsoft.com/office/drawing/2014/main" id="{61C6F789-B1B2-45CD-AD7F-2D719B867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886325"/>
            <a:ext cx="3143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D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ule-852-513">
            <a:extLst xmlns:a="http://schemas.openxmlformats.org/drawingml/2006/main">
              <a:ext uri="{FF2B5EF4-FFF2-40B4-BE49-F238E27FC236}">
                <a16:creationId xmlns:a16="http://schemas.microsoft.com/office/drawing/2014/main" id="{4264B810-F14B-425B-B70B-DE748C1DE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886325"/>
            <a:ext cx="3143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DE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eframe-takeaway">
            <a:extLst xmlns:a="http://schemas.openxmlformats.org/drawingml/2006/main">
              <a:ext uri="{FF2B5EF4-FFF2-40B4-BE49-F238E27FC236}">
                <a16:creationId xmlns:a16="http://schemas.microsoft.com/office/drawing/2014/main" id="{850C0D8E-FE36-4D30-A79B-9FC8B2F3F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381625"/>
            <a:ext cx="8648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6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0">
                <a:solidFill>
                  <a:srgbClr val="C9D7E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C9D7E7"/>
                </a:solidFill>
                <a:latin typeface="Arial"/>
                <a:ea typeface="Arial"/>
                <a:cs typeface="Arial"/>
              </a:rPr>
              <a:t>The quantum computer accelerates the hard middle step—not the final gcd arithmetic.</a:t>
            </a:r>
          </a:p>
        </p:txBody>
      </p:sp>
      <p:sp>
        <p:nvSpPr>
          <p:cNvPr id="19" name="footer">
            <a:extLst xmlns:a="http://schemas.openxmlformats.org/drawingml/2006/main">
              <a:ext uri="{FF2B5EF4-FFF2-40B4-BE49-F238E27FC236}">
                <a16:creationId xmlns:a16="http://schemas.microsoft.com/office/drawing/2014/main" id="{62491CD3-1E74-45ED-8312-279AAE747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8FA9C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FA9C3"/>
                </a:solidFill>
                <a:latin typeface="Arial"/>
                <a:ea typeface="Arial"/>
                <a:cs typeface="Arial"/>
              </a:rPr>
              <a:t>SHOR'S ALGORITHM · FACTORING N = 15</a:t>
            </a:r>
          </a:p>
        </p:txBody>
      </p:sp>
    </p:spTree>
    <p:extLst>
      <p:ext uri="{BB962C8B-B14F-4D97-AF65-F5344CB8AC3E}">
        <p14:creationId xmlns:p14="http://schemas.microsoft.com/office/powerpoint/2010/main" val="16951227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6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">
            <a:extLst xmlns:a="http://schemas.openxmlformats.org/drawingml/2006/main">
              <a:ext uri="{FF2B5EF4-FFF2-40B4-BE49-F238E27FC236}">
                <a16:creationId xmlns:a16="http://schemas.microsoft.com/office/drawing/2014/main" id="{1EA6C2B9-3A39-402B-8386-A023DF7A1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63A8C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3A8C8"/>
                </a:solidFill>
                <a:latin typeface="Arial"/>
                <a:ea typeface="Arial"/>
                <a:cs typeface="Arial"/>
              </a:rPr>
              <a:t>STEP 1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8500E50-82CE-4042-9FD8-49D4A42A2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8FC"/>
                </a:solidFill>
                <a:latin typeface="Arial"/>
                <a:ea typeface="Arial"/>
                <a:cs typeface="Arial"/>
              </a:rPr>
              <a:t>Choose a base; run the first gcd check.</a:t>
            </a:r>
          </a:p>
        </p:txBody>
      </p:sp>
      <p:sp>
        <p:nvSpPr>
          <p:cNvPr id="3" name="rule-72-153">
            <a:extLst xmlns:a="http://schemas.openxmlformats.org/drawingml/2006/main">
              <a:ext uri="{FF2B5EF4-FFF2-40B4-BE49-F238E27FC236}">
                <a16:creationId xmlns:a16="http://schemas.microsoft.com/office/drawing/2014/main" id="{0D3EF1FB-714F-4E44-AA3E-967190238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573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9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7C57FE2-0BCA-4068-96B0-979DB092E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667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8FA9C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FA9C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choose-values-background">
            <a:extLst xmlns:a="http://schemas.openxmlformats.org/drawingml/2006/main">
              <a:ext uri="{FF2B5EF4-FFF2-40B4-BE49-F238E27FC236}">
                <a16:creationId xmlns:a16="http://schemas.microsoft.com/office/drawing/2014/main" id="{7E53E77D-053D-4131-976F-1FBA37593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828800"/>
            <a:ext cx="8191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0E2745"/>
          </a:solidFill>
          <a:ln xmlns:a="http://schemas.openxmlformats.org/drawingml/2006/main" w="9525">
            <a:solidFill>
              <a:srgbClr val="23496D"/>
            </a:solidFill>
            <a:prstDash val="solid"/>
          </a:ln>
        </p:spPr>
      </p:sp>
      <p:sp>
        <p:nvSpPr>
          <p:cNvPr id="6" name="choose-values">
            <a:extLst xmlns:a="http://schemas.openxmlformats.org/drawingml/2006/main">
              <a:ext uri="{FF2B5EF4-FFF2-40B4-BE49-F238E27FC236}">
                <a16:creationId xmlns:a16="http://schemas.microsoft.com/office/drawing/2014/main" id="{86A61674-BCFB-4792-9857-CADACF3AB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962150"/>
            <a:ext cx="7772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4050" b="1">
                <a:solidFill>
                  <a:srgbClr val="F4F8FC"/>
                </a:solidFill>
                <a:latin typeface="Courier New"/>
                <a:ea typeface="Courier New"/>
                <a:cs typeface="Courier New"/>
              </a:defRPr>
            </a:pPr>
            <a:r>
              <a:rPr sz="4050" b="1">
                <a:solidFill>
                  <a:srgbClr val="F4F8FC"/>
                </a:solidFill>
                <a:latin typeface="Courier New"/>
                <a:ea typeface="Courier New"/>
                <a:cs typeface="Courier New"/>
              </a:rPr>
              <a:t>N = 15      a = 2</a:t>
            </a:r>
          </a:p>
        </p:txBody>
      </p:sp>
      <p:sp>
        <p:nvSpPr>
          <p:cNvPr id="7" name="step-number-bg-1">
            <a:extLst xmlns:a="http://schemas.openxmlformats.org/drawingml/2006/main">
              <a:ext uri="{FF2B5EF4-FFF2-40B4-BE49-F238E27FC236}">
                <a16:creationId xmlns:a16="http://schemas.microsoft.com/office/drawing/2014/main" id="{79CECD54-4510-42F9-85A4-101B4009F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DE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ep-number-front-1">
            <a:extLst xmlns:a="http://schemas.openxmlformats.org/drawingml/2006/main">
              <a:ext uri="{FF2B5EF4-FFF2-40B4-BE49-F238E27FC236}">
                <a16:creationId xmlns:a16="http://schemas.microsoft.com/office/drawing/2014/main" id="{246714AF-131C-4B33-8624-0BF72DD0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0617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6172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27211704-9FF3-4ECE-A1CD-0A06BB725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24225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C9D7E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9D7E7"/>
                </a:solidFill>
                <a:latin typeface="Arial"/>
                <a:ea typeface="Arial"/>
                <a:cs typeface="Arial"/>
              </a:rPr>
              <a:t>Check the required range</a:t>
            </a:r>
          </a:p>
        </p:txBody>
      </p:sp>
      <p:sp>
        <p:nvSpPr>
          <p:cNvPr id="10" name="range-check">
            <a:extLst xmlns:a="http://schemas.openxmlformats.org/drawingml/2006/main">
              <a:ext uri="{FF2B5EF4-FFF2-40B4-BE49-F238E27FC236}">
                <a16:creationId xmlns:a16="http://schemas.microsoft.com/office/drawing/2014/main" id="{B6ACF5AE-72B8-4C52-90E7-7BA2C3C69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05150"/>
            <a:ext cx="4095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25" b="1">
                <a:solidFill>
                  <a:srgbClr val="8CDE72"/>
                </a:solidFill>
                <a:latin typeface="Courier New"/>
                <a:ea typeface="Courier New"/>
                <a:cs typeface="Courier New"/>
              </a:defRPr>
            </a:pPr>
            <a:r>
              <a:rPr sz="2625" b="1">
                <a:solidFill>
                  <a:srgbClr val="8CDE72"/>
                </a:solidFill>
                <a:latin typeface="Courier New"/>
                <a:ea typeface="Courier New"/>
                <a:cs typeface="Courier New"/>
              </a:rPr>
              <a:t>1 &lt; 2 &lt; 15</a:t>
            </a:r>
          </a:p>
        </p:txBody>
      </p:sp>
      <p:sp>
        <p:nvSpPr>
          <p:cNvPr id="11" name="step-number-bg-2">
            <a:extLst xmlns:a="http://schemas.openxmlformats.org/drawingml/2006/main">
              <a:ext uri="{FF2B5EF4-FFF2-40B4-BE49-F238E27FC236}">
                <a16:creationId xmlns:a16="http://schemas.microsoft.com/office/drawing/2014/main" id="{403220DB-2AA1-4E6D-98FC-01562F808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tep-number-front-2">
            <a:extLst xmlns:a="http://schemas.openxmlformats.org/drawingml/2006/main">
              <a:ext uri="{FF2B5EF4-FFF2-40B4-BE49-F238E27FC236}">
                <a16:creationId xmlns:a16="http://schemas.microsoft.com/office/drawing/2014/main" id="{0D05B2C3-5CA7-4D68-8C52-4825D61A2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0617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6172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EF2F1ACC-DC07-474A-BDF2-223533F64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43375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C9D7E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9D7E7"/>
                </a:solidFill>
                <a:latin typeface="Arial"/>
                <a:ea typeface="Arial"/>
                <a:cs typeface="Arial"/>
              </a:rPr>
              <a:t>Look for an immediate shared factor</a:t>
            </a:r>
          </a:p>
        </p:txBody>
      </p:sp>
      <p:sp>
        <p:nvSpPr>
          <p:cNvPr id="14" name="initial-gcd">
            <a:extLst xmlns:a="http://schemas.openxmlformats.org/drawingml/2006/main">
              <a:ext uri="{FF2B5EF4-FFF2-40B4-BE49-F238E27FC236}">
                <a16:creationId xmlns:a16="http://schemas.microsoft.com/office/drawing/2014/main" id="{057CC073-928A-488D-92A8-B614CB669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24300"/>
            <a:ext cx="4095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25" b="1">
                <a:solidFill>
                  <a:srgbClr val="F4F8FC"/>
                </a:solidFill>
                <a:latin typeface="Courier New"/>
                <a:ea typeface="Courier New"/>
                <a:cs typeface="Courier New"/>
              </a:defRPr>
            </a:pPr>
            <a:r>
              <a:rPr sz="2625" b="1">
                <a:solidFill>
                  <a:srgbClr val="F4F8FC"/>
                </a:solidFill>
                <a:latin typeface="Courier New"/>
                <a:ea typeface="Courier New"/>
                <a:cs typeface="Courier New"/>
              </a:rPr>
              <a:t>gcd(2, 15) = 1</a:t>
            </a:r>
          </a:p>
        </p:txBody>
      </p:sp>
      <p:sp>
        <p:nvSpPr>
          <p:cNvPr id="15" name="coprime-explanation">
            <a:extLst xmlns:a="http://schemas.openxmlformats.org/drawingml/2006/main">
              <a:ext uri="{FF2B5EF4-FFF2-40B4-BE49-F238E27FC236}">
                <a16:creationId xmlns:a16="http://schemas.microsoft.com/office/drawing/2014/main" id="{3338BE83-C3E9-45AD-8475-B063ED1ED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219700"/>
            <a:ext cx="8801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0">
                <a:solidFill>
                  <a:srgbClr val="C9D7E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C9D7E7"/>
                </a:solidFill>
                <a:latin typeface="Arial"/>
                <a:ea typeface="Arial"/>
                <a:cs typeface="Arial"/>
              </a:rPr>
              <a:t>2 and 15 are coprime. No factor yet—continue to period finding.</a:t>
            </a:r>
          </a:p>
        </p:txBody>
      </p:sp>
      <p:sp>
        <p:nvSpPr>
          <p:cNvPr id="16" name="footer">
            <a:extLst xmlns:a="http://schemas.openxmlformats.org/drawingml/2006/main">
              <a:ext uri="{FF2B5EF4-FFF2-40B4-BE49-F238E27FC236}">
                <a16:creationId xmlns:a16="http://schemas.microsoft.com/office/drawing/2014/main" id="{6DDB71DB-7518-4E89-9D7B-2CDC9A66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8FA9C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FA9C3"/>
                </a:solidFill>
                <a:latin typeface="Arial"/>
                <a:ea typeface="Arial"/>
                <a:cs typeface="Arial"/>
              </a:rPr>
              <a:t>SHOR'S ALGORITHM · FACTORING N = 15</a:t>
            </a:r>
          </a:p>
        </p:txBody>
      </p:sp>
    </p:spTree>
    <p:extLst>
      <p:ext uri="{BB962C8B-B14F-4D97-AF65-F5344CB8AC3E}">
        <p14:creationId xmlns:p14="http://schemas.microsoft.com/office/powerpoint/2010/main" val="11843792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6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">
            <a:extLst xmlns:a="http://schemas.openxmlformats.org/drawingml/2006/main">
              <a:ext uri="{FF2B5EF4-FFF2-40B4-BE49-F238E27FC236}">
                <a16:creationId xmlns:a16="http://schemas.microsoft.com/office/drawing/2014/main" id="{C3B6EDF5-05B9-49E7-A0C5-327C678F8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63A8C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3A8C8"/>
                </a:solidFill>
                <a:latin typeface="Arial"/>
                <a:ea typeface="Arial"/>
                <a:cs typeface="Arial"/>
              </a:rPr>
              <a:t>STEP 2 · BUILD 1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0EF7BA7-1BAC-44A1-BB33-6841F003A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8FC"/>
                </a:solidFill>
                <a:latin typeface="Arial"/>
                <a:ea typeface="Arial"/>
                <a:cs typeface="Arial"/>
              </a:rPr>
              <a:t>Modulo keeps only the remainder.</a:t>
            </a:r>
          </a:p>
        </p:txBody>
      </p:sp>
      <p:sp>
        <p:nvSpPr>
          <p:cNvPr id="3" name="rule-72-153">
            <a:extLst xmlns:a="http://schemas.openxmlformats.org/drawingml/2006/main">
              <a:ext uri="{FF2B5EF4-FFF2-40B4-BE49-F238E27FC236}">
                <a16:creationId xmlns:a16="http://schemas.microsoft.com/office/drawing/2014/main" id="{ABBDCD5A-4087-4DFA-AE01-B37EEE29A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573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9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980D114-FD11-4652-9206-93C9A40F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667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8FA9C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FA9C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periodic-function-background">
            <a:extLst xmlns:a="http://schemas.openxmlformats.org/drawingml/2006/main">
              <a:ext uri="{FF2B5EF4-FFF2-40B4-BE49-F238E27FC236}">
                <a16:creationId xmlns:a16="http://schemas.microsoft.com/office/drawing/2014/main" id="{4F98172C-6758-4179-A7BE-BDA41CCEE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809750"/>
            <a:ext cx="8953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E2745"/>
          </a:solidFill>
          <a:ln xmlns:a="http://schemas.openxmlformats.org/drawingml/2006/main" w="9525">
            <a:solidFill>
              <a:srgbClr val="63A8C8"/>
            </a:solidFill>
            <a:prstDash val="solid"/>
          </a:ln>
        </p:spPr>
      </p:sp>
      <p:sp>
        <p:nvSpPr>
          <p:cNvPr id="6" name="periodic-function">
            <a:extLst xmlns:a="http://schemas.openxmlformats.org/drawingml/2006/main">
              <a:ext uri="{FF2B5EF4-FFF2-40B4-BE49-F238E27FC236}">
                <a16:creationId xmlns:a16="http://schemas.microsoft.com/office/drawing/2014/main" id="{C84F0D74-BD87-4533-8D9E-A27E08122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9431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4425" b="1">
                <a:solidFill>
                  <a:srgbClr val="F4F8FC"/>
                </a:solidFill>
                <a:latin typeface="Courier New"/>
                <a:ea typeface="Courier New"/>
                <a:cs typeface="Courier New"/>
              </a:defRPr>
            </a:pPr>
            <a:r>
              <a:rPr sz="4425" b="1">
                <a:solidFill>
                  <a:srgbClr val="F4F8FC"/>
                </a:solidFill>
                <a:latin typeface="Courier New"/>
                <a:ea typeface="Courier New"/>
                <a:cs typeface="Courier New"/>
              </a:rPr>
              <a:t>f(x) = 2ˣ mod 15</a:t>
            </a:r>
          </a:p>
        </p:txBody>
      </p:sp>
      <p:sp>
        <p:nvSpPr>
          <p:cNvPr id="7" name="modulo-definition">
            <a:extLst xmlns:a="http://schemas.openxmlformats.org/drawingml/2006/main">
              <a:ext uri="{FF2B5EF4-FFF2-40B4-BE49-F238E27FC236}">
                <a16:creationId xmlns:a16="http://schemas.microsoft.com/office/drawing/2014/main" id="{7A8D1F38-BE94-4F79-80D9-5C93EBD0D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00400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34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0">
                <a:solidFill>
                  <a:srgbClr val="C9D7E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C9D7E7"/>
                </a:solidFill>
                <a:latin typeface="Arial"/>
                <a:ea typeface="Arial"/>
                <a:cs typeface="Arial"/>
              </a:rPr>
              <a:t>Modulo 15 means: calculate the power, divide by 15, and keep only the remainder.</a:t>
            </a:r>
          </a:p>
        </p:txBody>
      </p:sp>
      <p:sp>
        <p:nvSpPr>
          <p:cNvPr id="8" name="power-example">
            <a:extLst xmlns:a="http://schemas.openxmlformats.org/drawingml/2006/main">
              <a:ext uri="{FF2B5EF4-FFF2-40B4-BE49-F238E27FC236}">
                <a16:creationId xmlns:a16="http://schemas.microsoft.com/office/drawing/2014/main" id="{1EB96154-7B85-4253-B8D1-D5C724079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238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850" b="1">
                <a:solidFill>
                  <a:srgbClr val="F4F8FC"/>
                </a:solidFill>
                <a:latin typeface="Courier New"/>
                <a:ea typeface="Courier New"/>
                <a:cs typeface="Courier New"/>
              </a:defRPr>
            </a:pPr>
            <a:r>
              <a:rPr sz="2850" b="1">
                <a:solidFill>
                  <a:srgbClr val="F4F8FC"/>
                </a:solidFill>
                <a:latin typeface="Courier New"/>
                <a:ea typeface="Courier New"/>
                <a:cs typeface="Courier New"/>
              </a:rPr>
              <a:t>2⁴ = 16</a:t>
            </a:r>
          </a:p>
        </p:txBody>
      </p:sp>
      <p:sp>
        <p:nvSpPr>
          <p:cNvPr id="9" name="mod-arrow-one">
            <a:extLst xmlns:a="http://schemas.openxmlformats.org/drawingml/2006/main">
              <a:ext uri="{FF2B5EF4-FFF2-40B4-BE49-F238E27FC236}">
                <a16:creationId xmlns:a16="http://schemas.microsoft.com/office/drawing/2014/main" id="{D043117D-9A33-405B-BCC6-70449E28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381500"/>
            <a:ext cx="57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000" b="0">
                <a:solidFill>
                  <a:srgbClr val="63A8C8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63A8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division-example">
            <a:extLst xmlns:a="http://schemas.openxmlformats.org/drawingml/2006/main">
              <a:ext uri="{FF2B5EF4-FFF2-40B4-BE49-F238E27FC236}">
                <a16:creationId xmlns:a16="http://schemas.microsoft.com/office/drawing/2014/main" id="{537D5180-4C68-4C42-8D2D-CCB869B39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48150"/>
            <a:ext cx="419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F4F8FC"/>
                </a:solidFill>
                <a:latin typeface="Courier New"/>
                <a:ea typeface="Courier New"/>
                <a:cs typeface="Courier New"/>
              </a:defRPr>
            </a:pPr>
            <a:r>
              <a:rPr sz="2550" b="1">
                <a:solidFill>
                  <a:srgbClr val="F4F8FC"/>
                </a:solidFill>
                <a:latin typeface="Courier New"/>
                <a:ea typeface="Courier New"/>
                <a:cs typeface="Courier New"/>
              </a:rPr>
              <a:t>16 = 1 × 15 + 1</a:t>
            </a:r>
          </a:p>
        </p:txBody>
      </p:sp>
      <p:sp>
        <p:nvSpPr>
          <p:cNvPr id="11" name="mod-arrow-two">
            <a:extLst xmlns:a="http://schemas.openxmlformats.org/drawingml/2006/main">
              <a:ext uri="{FF2B5EF4-FFF2-40B4-BE49-F238E27FC236}">
                <a16:creationId xmlns:a16="http://schemas.microsoft.com/office/drawing/2014/main" id="{98DB7625-D652-459A-AD02-C583437E8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381500"/>
            <a:ext cx="57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000" b="0">
                <a:solidFill>
                  <a:srgbClr val="63A8C8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63A8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remainder-example">
            <a:extLst xmlns:a="http://schemas.openxmlformats.org/drawingml/2006/main">
              <a:ext uri="{FF2B5EF4-FFF2-40B4-BE49-F238E27FC236}">
                <a16:creationId xmlns:a16="http://schemas.microsoft.com/office/drawing/2014/main" id="{C7817A50-183F-4E27-8D33-ABF554CC5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248150"/>
            <a:ext cx="2333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850" b="1">
                <a:solidFill>
                  <a:srgbClr val="8CDE72"/>
                </a:solidFill>
                <a:latin typeface="Courier New"/>
                <a:ea typeface="Courier New"/>
                <a:cs typeface="Courier New"/>
              </a:defRPr>
            </a:pPr>
            <a:r>
              <a:rPr sz="2850" b="1">
                <a:solidFill>
                  <a:srgbClr val="8CDE72"/>
                </a:solidFill>
                <a:latin typeface="Courier New"/>
                <a:ea typeface="Courier New"/>
                <a:cs typeface="Courier New"/>
              </a:rPr>
              <a:t>f(4) = 1</a:t>
            </a:r>
          </a:p>
        </p:txBody>
      </p:sp>
      <p:sp>
        <p:nvSpPr>
          <p:cNvPr id="13" name="power-label">
            <a:extLst xmlns:a="http://schemas.openxmlformats.org/drawingml/2006/main">
              <a:ext uri="{FF2B5EF4-FFF2-40B4-BE49-F238E27FC236}">
                <a16:creationId xmlns:a16="http://schemas.microsoft.com/office/drawing/2014/main" id="{2AACABF3-A47F-4A22-BFD9-C14C4AF5F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244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8FA9C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8FA9C3"/>
                </a:solidFill>
                <a:latin typeface="Arial"/>
                <a:ea typeface="Arial"/>
                <a:cs typeface="Arial"/>
              </a:rPr>
              <a:t>power</a:t>
            </a:r>
          </a:p>
        </p:txBody>
      </p:sp>
      <p:sp>
        <p:nvSpPr>
          <p:cNvPr id="14" name="division-label">
            <a:extLst xmlns:a="http://schemas.openxmlformats.org/drawingml/2006/main">
              <a:ext uri="{FF2B5EF4-FFF2-40B4-BE49-F238E27FC236}">
                <a16:creationId xmlns:a16="http://schemas.microsoft.com/office/drawing/2014/main" id="{7CB13BFB-12E7-4471-89F1-6E789EFC7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124450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8FA9C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8FA9C3"/>
                </a:solidFill>
                <a:latin typeface="Arial"/>
                <a:ea typeface="Arial"/>
                <a:cs typeface="Arial"/>
              </a:rPr>
              <a:t>division with remainder</a:t>
            </a:r>
          </a:p>
        </p:txBody>
      </p:sp>
      <p:sp>
        <p:nvSpPr>
          <p:cNvPr id="15" name="remainder-label">
            <a:extLst xmlns:a="http://schemas.openxmlformats.org/drawingml/2006/main">
              <a:ext uri="{FF2B5EF4-FFF2-40B4-BE49-F238E27FC236}">
                <a16:creationId xmlns:a16="http://schemas.microsoft.com/office/drawing/2014/main" id="{99030BD6-DB5F-4080-8B54-65EA2D2F4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124450"/>
            <a:ext cx="2333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8FA9C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8FA9C3"/>
                </a:solidFill>
                <a:latin typeface="Arial"/>
                <a:ea typeface="Arial"/>
                <a:cs typeface="Arial"/>
              </a:rPr>
              <a:t>keep the remainder</a:t>
            </a:r>
          </a:p>
        </p:txBody>
      </p:sp>
      <p:sp>
        <p:nvSpPr>
          <p:cNvPr id="16" name="footer">
            <a:extLst xmlns:a="http://schemas.openxmlformats.org/drawingml/2006/main">
              <a:ext uri="{FF2B5EF4-FFF2-40B4-BE49-F238E27FC236}">
                <a16:creationId xmlns:a16="http://schemas.microsoft.com/office/drawing/2014/main" id="{2DC413D4-F4FE-49D8-9773-118F8355C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8FA9C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FA9C3"/>
                </a:solidFill>
                <a:latin typeface="Arial"/>
                <a:ea typeface="Arial"/>
                <a:cs typeface="Arial"/>
              </a:rPr>
              <a:t>SHOR'S ALGORITHM · FACTORING N = 15</a:t>
            </a:r>
          </a:p>
        </p:txBody>
      </p:sp>
    </p:spTree>
    <p:extLst>
      <p:ext uri="{BB962C8B-B14F-4D97-AF65-F5344CB8AC3E}">
        <p14:creationId xmlns:p14="http://schemas.microsoft.com/office/powerpoint/2010/main" val="6695849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6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44618B54-102D-40C1-8DB8-061786E2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63A8C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3A8C8"/>
                </a:solidFill>
                <a:latin typeface="Arial"/>
                <a:ea typeface="Arial"/>
                <a:cs typeface="Arial"/>
              </a:rPr>
              <a:t>STEP 2 · BUILD 2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E1E8D35-F42A-40B6-9C71-F1B84D5A8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8FC"/>
                </a:solidFill>
                <a:latin typeface="Arial"/>
                <a:ea typeface="Arial"/>
                <a:cs typeface="Arial"/>
              </a:rPr>
              <a:t>Evaluate every power until the pattern repeats.</a:t>
            </a:r>
          </a:p>
        </p:txBody>
      </p:sp>
      <p:sp>
        <p:nvSpPr>
          <p:cNvPr id="3" name="rule-72-153">
            <a:extLst xmlns:a="http://schemas.openxmlformats.org/drawingml/2006/main">
              <a:ext uri="{FF2B5EF4-FFF2-40B4-BE49-F238E27FC236}">
                <a16:creationId xmlns:a16="http://schemas.microsoft.com/office/drawing/2014/main" id="{CBC85227-15C4-4646-9442-92C7165E4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573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9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C0E5909-2F2B-41CD-B2F4-A5699B619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667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8FA9C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FA9C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85800" y="1752600"/>
          <a:ext xmlns:a="http://schemas.openxmlformats.org/drawingml/2006/main" cx="10820400" cy="4019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62000"/>
                <a:gridCol w="2333625"/>
                <a:gridCol w="4476750"/>
                <a:gridCol w="3248025"/>
              </a:tblGrid>
              <a:tr h="438150">
                <a:tc>
                  <a:txBody>
                    <a:bodyPr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9D7E7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133354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1">
                          <a:solidFill>
                            <a:srgbClr val="C9D7E7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Calculate 2ˣ</a:t>
                      </a:r>
                    </a:p>
                  </a:txBody>
                  <a:tcPr marL="91440" marR="91440" marT="45720" marB="45720">
                    <a:solidFill>
                      <a:srgbClr val="133354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1">
                          <a:solidFill>
                            <a:srgbClr val="C9D7E7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Divide by 15</a:t>
                      </a:r>
                    </a:p>
                  </a:txBody>
                  <a:tcPr marL="91440" marR="91440" marT="45720" marB="45720">
                    <a:solidFill>
                      <a:srgbClr val="133354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1">
                          <a:solidFill>
                            <a:srgbClr val="C9D7E7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Keep remainder</a:t>
                      </a:r>
                    </a:p>
                  </a:txBody>
                  <a:tcPr marL="91440" marR="91440" marT="45720" marB="45720">
                    <a:solidFill>
                      <a:srgbClr val="133354"/>
                    </a:solidFill>
                  </a:tcPr>
                </a:tc>
              </a:tr>
              <a:tr h="400050">
                <a:tc>
                  <a:txBody>
                    <a:bodyPr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F4F8FC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0D2946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F4F8FC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2⁰ = 1</a:t>
                      </a:r>
                    </a:p>
                  </a:txBody>
                  <a:tcPr marL="91440" marR="91440" marT="45720" marB="45720">
                    <a:solidFill>
                      <a:srgbClr val="0D2946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F4F8FC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1 = 0 × 15 + 1</a:t>
                      </a:r>
                    </a:p>
                  </a:txBody>
                  <a:tcPr marL="91440" marR="91440" marT="45720" marB="45720">
                    <a:solidFill>
                      <a:srgbClr val="0D2946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F4F8FC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f(0) = 1</a:t>
                      </a:r>
                    </a:p>
                  </a:txBody>
                  <a:tcPr marL="91440" marR="91440" marT="45720" marB="45720">
                    <a:solidFill>
                      <a:srgbClr val="0D2946"/>
                    </a:solidFill>
                  </a:tcPr>
                </a:tc>
              </a:tr>
              <a:tr h="400050">
                <a:tc>
                  <a:txBody>
                    <a:bodyPr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F4F8FC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0D2946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F4F8FC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2¹ = 2</a:t>
                      </a:r>
                    </a:p>
                  </a:txBody>
                  <a:tcPr marL="91440" marR="91440" marT="45720" marB="45720">
                    <a:solidFill>
                      <a:srgbClr val="0D2946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F4F8FC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2 = 0 × 15 + 2</a:t>
                      </a:r>
                    </a:p>
                  </a:txBody>
                  <a:tcPr marL="91440" marR="91440" marT="45720" marB="45720">
                    <a:solidFill>
                      <a:srgbClr val="0D2946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F4F8FC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f(1) = 2</a:t>
                      </a:r>
                    </a:p>
                  </a:txBody>
                  <a:tcPr marL="91440" marR="91440" marT="45720" marB="45720">
                    <a:solidFill>
                      <a:srgbClr val="0D2946"/>
                    </a:solidFill>
                  </a:tcPr>
                </a:tc>
              </a:tr>
              <a:tr h="400050">
                <a:tc>
                  <a:txBody>
                    <a:bodyPr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F4F8FC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0D2946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F4F8FC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2² = 4</a:t>
                      </a:r>
                    </a:p>
                  </a:txBody>
                  <a:tcPr marL="91440" marR="91440" marT="45720" marB="45720">
                    <a:solidFill>
                      <a:srgbClr val="0D2946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F4F8FC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4 = 0 × 15 + 4</a:t>
                      </a:r>
                    </a:p>
                  </a:txBody>
                  <a:tcPr marL="91440" marR="91440" marT="45720" marB="45720">
                    <a:solidFill>
                      <a:srgbClr val="0D2946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F4F8FC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f(2) = 4</a:t>
                      </a:r>
                    </a:p>
                  </a:txBody>
                  <a:tcPr marL="91440" marR="91440" marT="45720" marB="45720">
                    <a:solidFill>
                      <a:srgbClr val="0D2946"/>
                    </a:solidFill>
                  </a:tcPr>
                </a:tc>
              </a:tr>
              <a:tr h="400050">
                <a:tc>
                  <a:txBody>
                    <a:bodyPr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F4F8FC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0D2946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F4F8FC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2³ = 8</a:t>
                      </a:r>
                    </a:p>
                  </a:txBody>
                  <a:tcPr marL="91440" marR="91440" marT="45720" marB="45720">
                    <a:solidFill>
                      <a:srgbClr val="0D2946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F4F8FC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8 = 0 × 15 + 8</a:t>
                      </a:r>
                    </a:p>
                  </a:txBody>
                  <a:tcPr marL="91440" marR="91440" marT="45720" marB="45720">
                    <a:solidFill>
                      <a:srgbClr val="0D2946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F4F8FC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f(3) = 8</a:t>
                      </a:r>
                    </a:p>
                  </a:txBody>
                  <a:tcPr marL="91440" marR="91440" marT="45720" marB="45720">
                    <a:solidFill>
                      <a:srgbClr val="0D2946"/>
                    </a:solidFill>
                  </a:tcPr>
                </a:tc>
              </a:tr>
              <a:tr h="400050">
                <a:tc>
                  <a:txBody>
                    <a:bodyPr anchor="ctr">
                      <a:normAutofit/>
                    </a:bodyPr>
                    <a:lstStyle/>
                    <a:p>
                      <a:pPr>
                        <a:buNone/>
                      </a:pPr>
                      <a:r>
                        <a:rPr b="1">
                          <a:solidFill>
                            <a:srgbClr val="06203A"/>
                          </a:solidFill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86DC72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>
                        <a:buNone/>
                      </a:pPr>
                      <a:r>
                        <a:rPr b="1">
                          <a:solidFill>
                            <a:srgbClr val="06203A"/>
                          </a:solidFill>
                        </a:rPr>
                        <a:t>2⁴ = 16</a:t>
                      </a:r>
                    </a:p>
                  </a:txBody>
                  <a:tcPr marL="91440" marR="91440" marT="45720" marB="45720">
                    <a:solidFill>
                      <a:srgbClr val="86DC72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>
                        <a:buNone/>
                      </a:pPr>
                      <a:r>
                        <a:rPr b="1">
                          <a:solidFill>
                            <a:srgbClr val="06203A"/>
                          </a:solidFill>
                        </a:rPr>
                        <a:t>16 = 1 × 15 + 1</a:t>
                      </a:r>
                    </a:p>
                  </a:txBody>
                  <a:tcPr marL="91440" marR="91440" marT="45720" marB="45720">
                    <a:solidFill>
                      <a:srgbClr val="86DC72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>
                        <a:buNone/>
                      </a:pPr>
                      <a:r>
                        <a:rPr b="1">
                          <a:solidFill>
                            <a:srgbClr val="06203A"/>
                          </a:solidFill>
                        </a:rPr>
                        <a:t>f(4) = 1</a:t>
                      </a:r>
                    </a:p>
                  </a:txBody>
                  <a:tcPr marL="91440" marR="91440" marT="45720" marB="45720">
                    <a:solidFill>
                      <a:srgbClr val="86DC72"/>
                    </a:solidFill>
                  </a:tcPr>
                </a:tc>
              </a:tr>
              <a:tr h="400050">
                <a:tc>
                  <a:txBody>
                    <a:bodyPr anchor="ctr">
                      <a:normAutofit/>
                    </a:bodyPr>
                    <a:lstStyle/>
                    <a:p>
                      <a:pPr>
                        <a:buNone/>
                      </a:pPr>
                      <a:r>
                        <a:rPr b="1">
                          <a:solidFill>
                            <a:srgbClr val="06203A"/>
                          </a:solidFill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86DC72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>
                        <a:buNone/>
                      </a:pPr>
                      <a:r>
                        <a:rPr b="1">
                          <a:solidFill>
                            <a:srgbClr val="06203A"/>
                          </a:solidFill>
                        </a:rPr>
                        <a:t>2⁵ = 32</a:t>
                      </a:r>
                    </a:p>
                  </a:txBody>
                  <a:tcPr marL="91440" marR="91440" marT="45720" marB="45720">
                    <a:solidFill>
                      <a:srgbClr val="86DC72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>
                        <a:buNone/>
                      </a:pPr>
                      <a:r>
                        <a:rPr b="1">
                          <a:solidFill>
                            <a:srgbClr val="06203A"/>
                          </a:solidFill>
                        </a:rPr>
                        <a:t>32 = 2 × 15 + 2</a:t>
                      </a:r>
                    </a:p>
                  </a:txBody>
                  <a:tcPr marL="91440" marR="91440" marT="45720" marB="45720">
                    <a:solidFill>
                      <a:srgbClr val="86DC72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>
                        <a:buNone/>
                      </a:pPr>
                      <a:r>
                        <a:rPr b="1">
                          <a:solidFill>
                            <a:srgbClr val="06203A"/>
                          </a:solidFill>
                        </a:rPr>
                        <a:t>f(5) = 2</a:t>
                      </a:r>
                    </a:p>
                  </a:txBody>
                  <a:tcPr marL="91440" marR="91440" marT="45720" marB="45720">
                    <a:solidFill>
                      <a:srgbClr val="86DC72"/>
                    </a:solidFill>
                  </a:tcPr>
                </a:tc>
              </a:tr>
              <a:tr h="400050">
                <a:tc>
                  <a:txBody>
                    <a:bodyPr anchor="ctr">
                      <a:normAutofit/>
                    </a:bodyPr>
                    <a:lstStyle/>
                    <a:p>
                      <a:pPr>
                        <a:buNone/>
                      </a:pPr>
                      <a:r>
                        <a:rPr b="1">
                          <a:solidFill>
                            <a:srgbClr val="06203A"/>
                          </a:solidFill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86DC72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>
                        <a:buNone/>
                      </a:pPr>
                      <a:r>
                        <a:rPr b="1">
                          <a:solidFill>
                            <a:srgbClr val="06203A"/>
                          </a:solidFill>
                        </a:rPr>
                        <a:t>2⁶ = 64</a:t>
                      </a:r>
                    </a:p>
                  </a:txBody>
                  <a:tcPr marL="91440" marR="91440" marT="45720" marB="45720">
                    <a:solidFill>
                      <a:srgbClr val="86DC72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>
                        <a:buNone/>
                      </a:pPr>
                      <a:r>
                        <a:rPr b="1">
                          <a:solidFill>
                            <a:srgbClr val="06203A"/>
                          </a:solidFill>
                        </a:rPr>
                        <a:t>64 = 4 × 15 + 4</a:t>
                      </a:r>
                    </a:p>
                  </a:txBody>
                  <a:tcPr marL="91440" marR="91440" marT="45720" marB="45720">
                    <a:solidFill>
                      <a:srgbClr val="86DC72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>
                        <a:buNone/>
                      </a:pPr>
                      <a:r>
                        <a:rPr b="1">
                          <a:solidFill>
                            <a:srgbClr val="06203A"/>
                          </a:solidFill>
                        </a:rPr>
                        <a:t>f(6) = 4</a:t>
                      </a:r>
                    </a:p>
                  </a:txBody>
                  <a:tcPr marL="91440" marR="91440" marT="45720" marB="45720">
                    <a:solidFill>
                      <a:srgbClr val="86DC72"/>
                    </a:solidFill>
                  </a:tcPr>
                </a:tc>
              </a:tr>
              <a:tr h="400050">
                <a:tc>
                  <a:txBody>
                    <a:bodyPr anchor="ctr">
                      <a:normAutofit/>
                    </a:bodyPr>
                    <a:lstStyle/>
                    <a:p>
                      <a:pPr>
                        <a:buNone/>
                      </a:pPr>
                      <a:r>
                        <a:rPr b="1">
                          <a:solidFill>
                            <a:srgbClr val="06203A"/>
                          </a:solidFill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86DC72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>
                        <a:buNone/>
                      </a:pPr>
                      <a:r>
                        <a:rPr b="1">
                          <a:solidFill>
                            <a:srgbClr val="06203A"/>
                          </a:solidFill>
                        </a:rPr>
                        <a:t>2⁷ = 128</a:t>
                      </a:r>
                    </a:p>
                  </a:txBody>
                  <a:tcPr marL="91440" marR="91440" marT="45720" marB="45720">
                    <a:solidFill>
                      <a:srgbClr val="86DC72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>
                        <a:buNone/>
                      </a:pPr>
                      <a:r>
                        <a:rPr b="1">
                          <a:solidFill>
                            <a:srgbClr val="06203A"/>
                          </a:solidFill>
                        </a:rPr>
                        <a:t>128 = 8 × 15 + 8</a:t>
                      </a:r>
                    </a:p>
                  </a:txBody>
                  <a:tcPr marL="91440" marR="91440" marT="45720" marB="45720">
                    <a:solidFill>
                      <a:srgbClr val="86DC72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>
                        <a:buNone/>
                      </a:pPr>
                      <a:r>
                        <a:rPr b="1">
                          <a:solidFill>
                            <a:srgbClr val="06203A"/>
                          </a:solidFill>
                        </a:rPr>
                        <a:t>f(7) = 8</a:t>
                      </a:r>
                    </a:p>
                  </a:txBody>
                  <a:tcPr marL="91440" marR="91440" marT="45720" marB="45720">
                    <a:solidFill>
                      <a:srgbClr val="86DC72"/>
                    </a:solidFill>
                  </a:tcPr>
                </a:tc>
              </a:tr>
              <a:tr h="400050">
                <a:tc>
                  <a:txBody>
                    <a:bodyPr anchor="ctr">
                      <a:normAutofit/>
                    </a:bodyPr>
                    <a:lstStyle/>
                    <a:p>
                      <a:pPr>
                        <a:buNone/>
                      </a:pPr>
                      <a:r>
                        <a:rPr b="1">
                          <a:solidFill>
                            <a:srgbClr val="06203A"/>
                          </a:solidFill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86DC72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>
                        <a:buNone/>
                      </a:pPr>
                      <a:r>
                        <a:rPr b="1">
                          <a:solidFill>
                            <a:srgbClr val="06203A"/>
                          </a:solidFill>
                        </a:rPr>
                        <a:t>2⁸ = 256</a:t>
                      </a:r>
                    </a:p>
                  </a:txBody>
                  <a:tcPr marL="91440" marR="91440" marT="45720" marB="45720">
                    <a:solidFill>
                      <a:srgbClr val="86DC72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>
                        <a:buNone/>
                      </a:pPr>
                      <a:r>
                        <a:rPr b="1">
                          <a:solidFill>
                            <a:srgbClr val="06203A"/>
                          </a:solidFill>
                        </a:rPr>
                        <a:t>256 = 17 × 15 + 1</a:t>
                      </a:r>
                    </a:p>
                  </a:txBody>
                  <a:tcPr marL="91440" marR="91440" marT="45720" marB="45720">
                    <a:solidFill>
                      <a:srgbClr val="86DC72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>
                        <a:buNone/>
                      </a:pPr>
                      <a:r>
                        <a:rPr b="1">
                          <a:solidFill>
                            <a:srgbClr val="06203A"/>
                          </a:solidFill>
                        </a:rPr>
                        <a:t>f(8) = 1</a:t>
                      </a:r>
                    </a:p>
                  </a:txBody>
                  <a:tcPr marL="91440" marR="91440" marT="45720" marB="45720">
                    <a:solidFill>
                      <a:srgbClr val="86DC72"/>
                    </a:solidFill>
                  </a:tcPr>
                </a:tc>
              </a:tr>
            </a:tbl>
          </a:graphicData>
        </a:graphic>
      </p:graphicFrame>
      <p:sp>
        <p:nvSpPr>
          <p:cNvPr id="6" name="table-takeaway">
            <a:extLst xmlns:a="http://schemas.openxmlformats.org/drawingml/2006/main">
              <a:ext uri="{FF2B5EF4-FFF2-40B4-BE49-F238E27FC236}">
                <a16:creationId xmlns:a16="http://schemas.microsoft.com/office/drawing/2014/main" id="{EAC8D636-A8D2-4688-91C1-9D7B584C1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9245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8CDE7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8CDE72"/>
                </a:solidFill>
                <a:latin typeface="Arial"/>
                <a:ea typeface="Arial"/>
                <a:cs typeface="Arial"/>
              </a:rPr>
              <a:t>At x = 4, the remainder 1 returns—and the sequence starts again.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6AD6C114-697D-472A-B4BF-606B526B0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8FA9C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FA9C3"/>
                </a:solidFill>
                <a:latin typeface="Arial"/>
                <a:ea typeface="Arial"/>
                <a:cs typeface="Arial"/>
              </a:rPr>
              <a:t>SHOR'S ALGORITHM · FACTORING N = 15</a:t>
            </a:r>
          </a:p>
        </p:txBody>
      </p:sp>
    </p:spTree>
    <p:extLst>
      <p:ext uri="{BB962C8B-B14F-4D97-AF65-F5344CB8AC3E}">
        <p14:creationId xmlns:p14="http://schemas.microsoft.com/office/powerpoint/2010/main" val="17319234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6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eyebrow">
            <a:extLst xmlns:a="http://schemas.openxmlformats.org/drawingml/2006/main">
              <a:ext uri="{FF2B5EF4-FFF2-40B4-BE49-F238E27FC236}">
                <a16:creationId xmlns:a16="http://schemas.microsoft.com/office/drawing/2014/main" id="{5BA1A0E3-9039-4B4F-9AC4-AC710DFEC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63A8C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3A8C8"/>
                </a:solidFill>
                <a:latin typeface="Arial"/>
                <a:ea typeface="Arial"/>
                <a:cs typeface="Arial"/>
              </a:rPr>
              <a:t>STEP 2 · BUILD 3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A90C25D-D60C-4158-B52B-971D1E0A6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8FC"/>
                </a:solidFill>
                <a:latin typeface="Arial"/>
                <a:ea typeface="Arial"/>
                <a:cs typeface="Arial"/>
              </a:rPr>
              <a:t>The repeated residues expose the period r = 4.</a:t>
            </a:r>
          </a:p>
        </p:txBody>
      </p:sp>
      <p:sp>
        <p:nvSpPr>
          <p:cNvPr id="3" name="rule-72-153">
            <a:extLst xmlns:a="http://schemas.openxmlformats.org/drawingml/2006/main">
              <a:ext uri="{FF2B5EF4-FFF2-40B4-BE49-F238E27FC236}">
                <a16:creationId xmlns:a16="http://schemas.microsoft.com/office/drawing/2014/main" id="{3471F7E5-3159-417A-A64C-E56A53FC2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573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9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6BB5585-CBC2-4EE7-9722-25929B9FE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667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8FA9C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FA9C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cycle-label">
            <a:extLst xmlns:a="http://schemas.openxmlformats.org/drawingml/2006/main">
              <a:ext uri="{FF2B5EF4-FFF2-40B4-BE49-F238E27FC236}">
                <a16:creationId xmlns:a16="http://schemas.microsoft.com/office/drawing/2014/main" id="{580691DC-F4A6-4C1C-AFEC-9F90A2944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8FA9C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8FA9C3"/>
                </a:solidFill>
                <a:latin typeface="Arial"/>
                <a:ea typeface="Arial"/>
                <a:cs typeface="Arial"/>
              </a:rPr>
              <a:t>One complete cycle</a:t>
            </a:r>
          </a:p>
        </p:txBody>
      </p:sp>
      <p:sp>
        <p:nvSpPr>
          <p:cNvPr id="6" name="residue-0-bg">
            <a:extLst xmlns:a="http://schemas.openxmlformats.org/drawingml/2006/main">
              <a:ext uri="{FF2B5EF4-FFF2-40B4-BE49-F238E27FC236}">
                <a16:creationId xmlns:a16="http://schemas.microsoft.com/office/drawing/2014/main" id="{75A614B8-4D72-469D-9989-20A34F887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574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DE72"/>
          </a:solidFill>
          <a:ln xmlns:a="http://schemas.openxmlformats.org/drawingml/2006/main" w="19050">
            <a:solidFill>
              <a:srgbClr val="8CDE72"/>
            </a:solidFill>
            <a:prstDash val="solid"/>
          </a:ln>
        </p:spPr>
      </p:sp>
      <p:sp>
        <p:nvSpPr>
          <p:cNvPr id="7" name="residue-0">
            <a:extLst xmlns:a="http://schemas.openxmlformats.org/drawingml/2006/main">
              <a:ext uri="{FF2B5EF4-FFF2-40B4-BE49-F238E27FC236}">
                <a16:creationId xmlns:a16="http://schemas.microsoft.com/office/drawing/2014/main" id="{F64C3C46-5599-46D7-A366-461608C3A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09850"/>
            <a:ext cx="876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25" b="1">
                <a:solidFill>
                  <a:srgbClr val="06172A"/>
                </a:solidFill>
                <a:latin typeface="Courier New"/>
                <a:ea typeface="Courier New"/>
                <a:cs typeface="Courier New"/>
              </a:defRPr>
            </a:pPr>
            <a:r>
              <a:rPr sz="2625" b="1">
                <a:solidFill>
                  <a:srgbClr val="06172A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8" name="residue-arrow-0">
            <a:extLst xmlns:a="http://schemas.openxmlformats.org/drawingml/2006/main">
              <a:ext uri="{FF2B5EF4-FFF2-40B4-BE49-F238E27FC236}">
                <a16:creationId xmlns:a16="http://schemas.microsoft.com/office/drawing/2014/main" id="{EB73F261-5DFE-4C7F-BF78-7B817A93D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667000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0">
                <a:solidFill>
                  <a:srgbClr val="63A8C8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63A8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residue-1-bg">
            <a:extLst xmlns:a="http://schemas.openxmlformats.org/drawingml/2006/main">
              <a:ext uri="{FF2B5EF4-FFF2-40B4-BE49-F238E27FC236}">
                <a16:creationId xmlns:a16="http://schemas.microsoft.com/office/drawing/2014/main" id="{4BFA85A5-A167-4134-9CBB-826E44265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4574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3354"/>
          </a:solidFill>
          <a:ln xmlns:a="http://schemas.openxmlformats.org/drawingml/2006/main" w="19050">
            <a:solidFill>
              <a:srgbClr val="23496D"/>
            </a:solidFill>
            <a:prstDash val="solid"/>
          </a:ln>
        </p:spPr>
      </p:sp>
      <p:sp>
        <p:nvSpPr>
          <p:cNvPr id="10" name="residue-1">
            <a:extLst xmlns:a="http://schemas.openxmlformats.org/drawingml/2006/main">
              <a:ext uri="{FF2B5EF4-FFF2-40B4-BE49-F238E27FC236}">
                <a16:creationId xmlns:a16="http://schemas.microsoft.com/office/drawing/2014/main" id="{DF483B18-9BED-426D-9473-91E0A65C2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609850"/>
            <a:ext cx="876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25" b="1">
                <a:solidFill>
                  <a:srgbClr val="F4F8FC"/>
                </a:solidFill>
                <a:latin typeface="Courier New"/>
                <a:ea typeface="Courier New"/>
                <a:cs typeface="Courier New"/>
              </a:defRPr>
            </a:pPr>
            <a:r>
              <a:rPr sz="2625" b="1">
                <a:solidFill>
                  <a:srgbClr val="F4F8FC"/>
                </a:solidFill>
                <a:latin typeface="Courier New"/>
                <a:ea typeface="Courier New"/>
                <a:cs typeface="Courier New"/>
              </a:rPr>
              <a:t>2</a:t>
            </a:r>
          </a:p>
        </p:txBody>
      </p:sp>
      <p:sp>
        <p:nvSpPr>
          <p:cNvPr id="11" name="residue-arrow-1">
            <a:extLst xmlns:a="http://schemas.openxmlformats.org/drawingml/2006/main">
              <a:ext uri="{FF2B5EF4-FFF2-40B4-BE49-F238E27FC236}">
                <a16:creationId xmlns:a16="http://schemas.microsoft.com/office/drawing/2014/main" id="{C543C504-DE8C-4571-9EFD-35486C7D5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667000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0">
                <a:solidFill>
                  <a:srgbClr val="63A8C8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63A8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residue-2-bg">
            <a:extLst xmlns:a="http://schemas.openxmlformats.org/drawingml/2006/main">
              <a:ext uri="{FF2B5EF4-FFF2-40B4-BE49-F238E27FC236}">
                <a16:creationId xmlns:a16="http://schemas.microsoft.com/office/drawing/2014/main" id="{546DFF38-3A55-4D55-8FE5-529251369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4574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3354"/>
          </a:solidFill>
          <a:ln xmlns:a="http://schemas.openxmlformats.org/drawingml/2006/main" w="19050">
            <a:solidFill>
              <a:srgbClr val="23496D"/>
            </a:solidFill>
            <a:prstDash val="solid"/>
          </a:ln>
        </p:spPr>
      </p:sp>
      <p:sp>
        <p:nvSpPr>
          <p:cNvPr id="13" name="residue-2">
            <a:extLst xmlns:a="http://schemas.openxmlformats.org/drawingml/2006/main">
              <a:ext uri="{FF2B5EF4-FFF2-40B4-BE49-F238E27FC236}">
                <a16:creationId xmlns:a16="http://schemas.microsoft.com/office/drawing/2014/main" id="{0D69C812-8F10-4437-A8B8-42CBBE8D2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609850"/>
            <a:ext cx="876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25" b="1">
                <a:solidFill>
                  <a:srgbClr val="F4F8FC"/>
                </a:solidFill>
                <a:latin typeface="Courier New"/>
                <a:ea typeface="Courier New"/>
                <a:cs typeface="Courier New"/>
              </a:defRPr>
            </a:pPr>
            <a:r>
              <a:rPr sz="2625" b="1">
                <a:solidFill>
                  <a:srgbClr val="F4F8FC"/>
                </a:solidFill>
                <a:latin typeface="Courier New"/>
                <a:ea typeface="Courier New"/>
                <a:cs typeface="Courier New"/>
              </a:rPr>
              <a:t>4</a:t>
            </a:r>
          </a:p>
        </p:txBody>
      </p:sp>
      <p:sp>
        <p:nvSpPr>
          <p:cNvPr id="14" name="residue-arrow-2">
            <a:extLst xmlns:a="http://schemas.openxmlformats.org/drawingml/2006/main">
              <a:ext uri="{FF2B5EF4-FFF2-40B4-BE49-F238E27FC236}">
                <a16:creationId xmlns:a16="http://schemas.microsoft.com/office/drawing/2014/main" id="{40E04986-FA83-42FF-85D9-F4DBCD62D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667000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0">
                <a:solidFill>
                  <a:srgbClr val="63A8C8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63A8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residue-3-bg">
            <a:extLst xmlns:a="http://schemas.openxmlformats.org/drawingml/2006/main">
              <a:ext uri="{FF2B5EF4-FFF2-40B4-BE49-F238E27FC236}">
                <a16:creationId xmlns:a16="http://schemas.microsoft.com/office/drawing/2014/main" id="{98679C28-0730-4347-A017-3FA0B9620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4574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3354"/>
          </a:solidFill>
          <a:ln xmlns:a="http://schemas.openxmlformats.org/drawingml/2006/main" w="19050">
            <a:solidFill>
              <a:srgbClr val="23496D"/>
            </a:solidFill>
            <a:prstDash val="solid"/>
          </a:ln>
        </p:spPr>
      </p:sp>
      <p:sp>
        <p:nvSpPr>
          <p:cNvPr id="16" name="residue-3">
            <a:extLst xmlns:a="http://schemas.openxmlformats.org/drawingml/2006/main">
              <a:ext uri="{FF2B5EF4-FFF2-40B4-BE49-F238E27FC236}">
                <a16:creationId xmlns:a16="http://schemas.microsoft.com/office/drawing/2014/main" id="{838664C9-7709-4050-AE93-F594CB796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609850"/>
            <a:ext cx="876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25" b="1">
                <a:solidFill>
                  <a:srgbClr val="F4F8FC"/>
                </a:solidFill>
                <a:latin typeface="Courier New"/>
                <a:ea typeface="Courier New"/>
                <a:cs typeface="Courier New"/>
              </a:defRPr>
            </a:pPr>
            <a:r>
              <a:rPr sz="2625" b="1">
                <a:solidFill>
                  <a:srgbClr val="F4F8FC"/>
                </a:solidFill>
                <a:latin typeface="Courier New"/>
                <a:ea typeface="Courier New"/>
                <a:cs typeface="Courier New"/>
              </a:rPr>
              <a:t>8</a:t>
            </a:r>
          </a:p>
        </p:txBody>
      </p:sp>
      <p:sp>
        <p:nvSpPr>
          <p:cNvPr id="17" name="residue-arrow-3">
            <a:extLst xmlns:a="http://schemas.openxmlformats.org/drawingml/2006/main">
              <a:ext uri="{FF2B5EF4-FFF2-40B4-BE49-F238E27FC236}">
                <a16:creationId xmlns:a16="http://schemas.microsoft.com/office/drawing/2014/main" id="{D75FAFE3-9E71-4CF0-8EF8-31F913986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667000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0">
                <a:solidFill>
                  <a:srgbClr val="63A8C8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63A8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residue-4-bg">
            <a:extLst xmlns:a="http://schemas.openxmlformats.org/drawingml/2006/main">
              <a:ext uri="{FF2B5EF4-FFF2-40B4-BE49-F238E27FC236}">
                <a16:creationId xmlns:a16="http://schemas.microsoft.com/office/drawing/2014/main" id="{548B9F0A-48AB-4EC7-A15E-03F6CD661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574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DE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residue-4">
            <a:extLst xmlns:a="http://schemas.openxmlformats.org/drawingml/2006/main">
              <a:ext uri="{FF2B5EF4-FFF2-40B4-BE49-F238E27FC236}">
                <a16:creationId xmlns:a16="http://schemas.microsoft.com/office/drawing/2014/main" id="{DF69303C-75D9-42A3-B515-38D4FF20E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09850"/>
            <a:ext cx="876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25" b="1">
                <a:solidFill>
                  <a:srgbClr val="06172A"/>
                </a:solidFill>
                <a:latin typeface="Courier New"/>
                <a:ea typeface="Courier New"/>
                <a:cs typeface="Courier New"/>
              </a:defRPr>
            </a:pPr>
            <a:r>
              <a:rPr sz="2625" b="1">
                <a:solidFill>
                  <a:srgbClr val="06172A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20" name="residue-arrow-4">
            <a:extLst xmlns:a="http://schemas.openxmlformats.org/drawingml/2006/main">
              <a:ext uri="{FF2B5EF4-FFF2-40B4-BE49-F238E27FC236}">
                <a16:creationId xmlns:a16="http://schemas.microsoft.com/office/drawing/2014/main" id="{3E426B0D-C7A9-4A91-A6F4-DECB71C02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67000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0">
                <a:solidFill>
                  <a:srgbClr val="63A8C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63A8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residue-5-bg">
            <a:extLst xmlns:a="http://schemas.openxmlformats.org/drawingml/2006/main">
              <a:ext uri="{FF2B5EF4-FFF2-40B4-BE49-F238E27FC236}">
                <a16:creationId xmlns:a16="http://schemas.microsoft.com/office/drawing/2014/main" id="{F9B27D20-77FC-43E9-B524-36B4255AD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574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DE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residue-5">
            <a:extLst xmlns:a="http://schemas.openxmlformats.org/drawingml/2006/main">
              <a:ext uri="{FF2B5EF4-FFF2-40B4-BE49-F238E27FC236}">
                <a16:creationId xmlns:a16="http://schemas.microsoft.com/office/drawing/2014/main" id="{703570E3-9B82-47A7-9D89-96E23F632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09850"/>
            <a:ext cx="876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25" b="1">
                <a:solidFill>
                  <a:srgbClr val="06172A"/>
                </a:solidFill>
                <a:latin typeface="Courier New"/>
                <a:ea typeface="Courier New"/>
                <a:cs typeface="Courier New"/>
              </a:defRPr>
            </a:pPr>
            <a:r>
              <a:rPr sz="2625" b="1">
                <a:solidFill>
                  <a:srgbClr val="06172A"/>
                </a:solidFill>
                <a:latin typeface="Courier New"/>
                <a:ea typeface="Courier New"/>
                <a:cs typeface="Courier New"/>
              </a:rPr>
              <a:t>2</a:t>
            </a:r>
          </a:p>
        </p:txBody>
      </p:sp>
      <p:sp>
        <p:nvSpPr>
          <p:cNvPr id="23" name="then-label">
            <a:extLst xmlns:a="http://schemas.openxmlformats.org/drawingml/2006/main">
              <a:ext uri="{FF2B5EF4-FFF2-40B4-BE49-F238E27FC236}">
                <a16:creationId xmlns:a16="http://schemas.microsoft.com/office/drawing/2014/main" id="{AF8E0DC6-2BAC-4122-A85A-6BE6FAED8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67000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0">
                <a:solidFill>
                  <a:srgbClr val="63A8C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63A8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4" name="repeat-one-bg">
            <a:extLst xmlns:a="http://schemas.openxmlformats.org/drawingml/2006/main">
              <a:ext uri="{FF2B5EF4-FFF2-40B4-BE49-F238E27FC236}">
                <a16:creationId xmlns:a16="http://schemas.microsoft.com/office/drawing/2014/main" id="{F1C42DE7-4C12-4657-B8B8-F127038BC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4574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DE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repeat-one">
            <a:extLst xmlns:a="http://schemas.openxmlformats.org/drawingml/2006/main">
              <a:ext uri="{FF2B5EF4-FFF2-40B4-BE49-F238E27FC236}">
                <a16:creationId xmlns:a16="http://schemas.microsoft.com/office/drawing/2014/main" id="{3E4417C5-C1E0-4ADD-BBF7-EE8A4169E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609850"/>
            <a:ext cx="876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25" b="1">
                <a:solidFill>
                  <a:srgbClr val="06172A"/>
                </a:solidFill>
                <a:latin typeface="Courier New"/>
                <a:ea typeface="Courier New"/>
                <a:cs typeface="Courier New"/>
              </a:defRPr>
            </a:pPr>
            <a:r>
              <a:rPr sz="2625" b="1">
                <a:solidFill>
                  <a:srgbClr val="06172A"/>
                </a:solidFill>
                <a:latin typeface="Courier New"/>
                <a:ea typeface="Courier New"/>
                <a:cs typeface="Courier New"/>
              </a:rPr>
              <a:t>4</a:t>
            </a:r>
          </a:p>
        </p:txBody>
      </p:sp>
      <p:sp>
        <p:nvSpPr>
          <p:cNvPr id="26" name="rule-108-382">
            <a:extLst xmlns:a="http://schemas.openxmlformats.org/drawingml/2006/main">
              <a:ext uri="{FF2B5EF4-FFF2-40B4-BE49-F238E27FC236}">
                <a16:creationId xmlns:a16="http://schemas.microsoft.com/office/drawing/2014/main" id="{5D95DDA6-025A-4717-87B4-E94687CE8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38550"/>
            <a:ext cx="5162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DE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six-steps">
            <a:extLst xmlns:a="http://schemas.openxmlformats.org/drawingml/2006/main">
              <a:ext uri="{FF2B5EF4-FFF2-40B4-BE49-F238E27FC236}">
                <a16:creationId xmlns:a16="http://schemas.microsoft.com/office/drawing/2014/main" id="{53664D3A-AF2D-45B6-91F9-A6DC51116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78142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8CDE7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8CDE72"/>
                </a:solidFill>
                <a:latin typeface="Arial"/>
                <a:ea typeface="Arial"/>
                <a:cs typeface="Arial"/>
              </a:rPr>
              <a:t>4 steps</a:t>
            </a:r>
          </a:p>
        </p:txBody>
      </p:sp>
      <p:sp>
        <p:nvSpPr>
          <p:cNvPr id="28" name="period-result-background">
            <a:extLst xmlns:a="http://schemas.openxmlformats.org/drawingml/2006/main">
              <a:ext uri="{FF2B5EF4-FFF2-40B4-BE49-F238E27FC236}">
                <a16:creationId xmlns:a16="http://schemas.microsoft.com/office/drawing/2014/main" id="{3D6051EC-AC30-4867-980E-43356BDE4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591050"/>
            <a:ext cx="4762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E2745"/>
          </a:solidFill>
          <a:ln xmlns:a="http://schemas.openxmlformats.org/drawingml/2006/main" w="9525">
            <a:solidFill>
              <a:srgbClr val="8CDE72"/>
            </a:solidFill>
            <a:prstDash val="solid"/>
          </a:ln>
        </p:spPr>
      </p:sp>
      <p:sp>
        <p:nvSpPr>
          <p:cNvPr id="29" name="period-result">
            <a:extLst xmlns:a="http://schemas.openxmlformats.org/drawingml/2006/main">
              <a:ext uri="{FF2B5EF4-FFF2-40B4-BE49-F238E27FC236}">
                <a16:creationId xmlns:a16="http://schemas.microsoft.com/office/drawing/2014/main" id="{D6288885-0988-4F78-AE26-AC7273A24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724400"/>
            <a:ext cx="4343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337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5100" b="1">
                <a:solidFill>
                  <a:srgbClr val="8CDE72"/>
                </a:solidFill>
                <a:latin typeface="Courier New"/>
                <a:ea typeface="Courier New"/>
                <a:cs typeface="Courier New"/>
              </a:defRPr>
            </a:pPr>
            <a:r>
              <a:rPr sz="5100" b="1">
                <a:solidFill>
                  <a:srgbClr val="8CDE72"/>
                </a:solidFill>
                <a:latin typeface="Courier New"/>
                <a:ea typeface="Courier New"/>
                <a:cs typeface="Courier New"/>
              </a:rPr>
              <a:t>r = 4</a:t>
            </a:r>
          </a:p>
        </p:txBody>
      </p:sp>
      <p:sp>
        <p:nvSpPr>
          <p:cNvPr id="30" name="footer">
            <a:extLst xmlns:a="http://schemas.openxmlformats.org/drawingml/2006/main">
              <a:ext uri="{FF2B5EF4-FFF2-40B4-BE49-F238E27FC236}">
                <a16:creationId xmlns:a16="http://schemas.microsoft.com/office/drawing/2014/main" id="{750D3C70-9DD1-427E-A23F-B451E5377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8FA9C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FA9C3"/>
                </a:solidFill>
                <a:latin typeface="Arial"/>
                <a:ea typeface="Arial"/>
                <a:cs typeface="Arial"/>
              </a:rPr>
              <a:t>SHOR'S ALGORITHM · FACTORING N = 15</a:t>
            </a:r>
          </a:p>
        </p:txBody>
      </p:sp>
    </p:spTree>
    <p:extLst>
      <p:ext uri="{BB962C8B-B14F-4D97-AF65-F5344CB8AC3E}">
        <p14:creationId xmlns:p14="http://schemas.microsoft.com/office/powerpoint/2010/main" val="4580123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6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eyebrow">
            <a:extLst xmlns:a="http://schemas.openxmlformats.org/drawingml/2006/main">
              <a:ext uri="{FF2B5EF4-FFF2-40B4-BE49-F238E27FC236}">
                <a16:creationId xmlns:a16="http://schemas.microsoft.com/office/drawing/2014/main" id="{3A6756B0-C247-482E-835A-DA9D91C58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63A8C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3A8C8"/>
                </a:solidFill>
                <a:latin typeface="Arial"/>
                <a:ea typeface="Arial"/>
                <a:cs typeface="Arial"/>
              </a:rPr>
              <a:t>STEP 3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43ECED1-658B-4007-B6E6-4D2BC1553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8FC"/>
                </a:solidFill>
                <a:latin typeface="Arial"/>
                <a:ea typeface="Arial"/>
                <a:cs typeface="Arial"/>
              </a:rPr>
              <a:t>The QFT turns repetition into measurable peaks.</a:t>
            </a:r>
          </a:p>
        </p:txBody>
      </p:sp>
      <p:sp>
        <p:nvSpPr>
          <p:cNvPr id="3" name="rule-72-153">
            <a:extLst xmlns:a="http://schemas.openxmlformats.org/drawingml/2006/main">
              <a:ext uri="{FF2B5EF4-FFF2-40B4-BE49-F238E27FC236}">
                <a16:creationId xmlns:a16="http://schemas.microsoft.com/office/drawing/2014/main" id="{74E99D7C-F80E-4664-8957-EB706365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573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9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A2B232B-A375-478E-85B9-330370C65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667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8FA9C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FA9C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superposition-state-background">
            <a:extLst xmlns:a="http://schemas.openxmlformats.org/drawingml/2006/main">
              <a:ext uri="{FF2B5EF4-FFF2-40B4-BE49-F238E27FC236}">
                <a16:creationId xmlns:a16="http://schemas.microsoft.com/office/drawing/2014/main" id="{FC49B06E-B49C-4567-B283-ED5264DC7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90700"/>
            <a:ext cx="103632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0E2745"/>
          </a:solidFill>
          <a:ln xmlns:a="http://schemas.openxmlformats.org/drawingml/2006/main" w="9525">
            <a:solidFill>
              <a:srgbClr val="F47D3D"/>
            </a:solidFill>
            <a:prstDash val="solid"/>
          </a:ln>
        </p:spPr>
      </p:sp>
      <p:sp>
        <p:nvSpPr>
          <p:cNvPr id="6" name="superposition-state">
            <a:extLst xmlns:a="http://schemas.openxmlformats.org/drawingml/2006/main">
              <a:ext uri="{FF2B5EF4-FFF2-40B4-BE49-F238E27FC236}">
                <a16:creationId xmlns:a16="http://schemas.microsoft.com/office/drawing/2014/main" id="{2E9FF9BB-7503-4E94-A588-D91C38AB6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24050"/>
            <a:ext cx="9944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25" b="1">
                <a:solidFill>
                  <a:srgbClr val="F4F8FC"/>
                </a:solidFill>
                <a:latin typeface="Courier New"/>
                <a:ea typeface="Courier New"/>
                <a:cs typeface="Courier New"/>
              </a:defRPr>
            </a:pPr>
            <a:r>
              <a:rPr sz="2625" b="1">
                <a:solidFill>
                  <a:srgbClr val="F4F8FC"/>
                </a:solidFill>
                <a:latin typeface="Courier New"/>
                <a:ea typeface="Courier New"/>
                <a:cs typeface="Courier New"/>
              </a:rPr>
              <a:t>|0⟩|1⟩ + |1⟩|2⟩ + |2⟩|4⟩ + |3⟩|8⟩ + …</a:t>
            </a:r>
          </a:p>
        </p:txBody>
      </p:sp>
      <p:sp>
        <p:nvSpPr>
          <p:cNvPr id="7" name="superposition-label">
            <a:extLst xmlns:a="http://schemas.openxmlformats.org/drawingml/2006/main">
              <a:ext uri="{FF2B5EF4-FFF2-40B4-BE49-F238E27FC236}">
                <a16:creationId xmlns:a16="http://schemas.microsoft.com/office/drawing/2014/main" id="{7111E2EA-82B6-4281-8D93-7FF797BC2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47D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7D3D"/>
                </a:solidFill>
                <a:latin typeface="Arial"/>
                <a:ea typeface="Arial"/>
                <a:cs typeface="Arial"/>
              </a:rPr>
              <a:t>SUPERPOSITION</a:t>
            </a:r>
          </a:p>
        </p:txBody>
      </p:sp>
      <p:sp>
        <p:nvSpPr>
          <p:cNvPr id="8" name="qft-label">
            <a:extLst xmlns:a="http://schemas.openxmlformats.org/drawingml/2006/main">
              <a:ext uri="{FF2B5EF4-FFF2-40B4-BE49-F238E27FC236}">
                <a16:creationId xmlns:a16="http://schemas.microsoft.com/office/drawing/2014/main" id="{21BC06CE-DD81-47C4-8793-7CE8CA294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9527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63A8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3A8C8"/>
                </a:solidFill>
                <a:latin typeface="Arial"/>
                <a:ea typeface="Arial"/>
                <a:cs typeface="Arial"/>
              </a:rPr>
              <a:t>QFT</a:t>
            </a:r>
          </a:p>
        </p:txBody>
      </p:sp>
      <p:sp>
        <p:nvSpPr>
          <p:cNvPr id="9" name="measurement-label">
            <a:extLst xmlns:a="http://schemas.openxmlformats.org/drawingml/2006/main">
              <a:ext uri="{FF2B5EF4-FFF2-40B4-BE49-F238E27FC236}">
                <a16:creationId xmlns:a16="http://schemas.microsoft.com/office/drawing/2014/main" id="{3708B8A2-C028-48F9-95EE-AC1DDEA9A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9527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8CDE7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CDE72"/>
                </a:solidFill>
                <a:latin typeface="Arial"/>
                <a:ea typeface="Arial"/>
                <a:cs typeface="Arial"/>
              </a:rPr>
              <a:t>MEASUREMENT</a:t>
            </a:r>
          </a:p>
        </p:txBody>
      </p:sp>
      <p:sp>
        <p:nvSpPr>
          <p:cNvPr id="10" name="quantum-arrow-one">
            <a:extLst xmlns:a="http://schemas.openxmlformats.org/drawingml/2006/main">
              <a:ext uri="{FF2B5EF4-FFF2-40B4-BE49-F238E27FC236}">
                <a16:creationId xmlns:a16="http://schemas.microsoft.com/office/drawing/2014/main" id="{7493EB10-2749-4D72-8F21-C74208243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524250"/>
            <a:ext cx="838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8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450" b="0">
                <a:solidFill>
                  <a:srgbClr val="63A8C8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63A8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quantum-arrow-two">
            <a:extLst xmlns:a="http://schemas.openxmlformats.org/drawingml/2006/main">
              <a:ext uri="{FF2B5EF4-FFF2-40B4-BE49-F238E27FC236}">
                <a16:creationId xmlns:a16="http://schemas.microsoft.com/office/drawing/2014/main" id="{17659676-2090-4472-B1B5-D3F36C473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524250"/>
            <a:ext cx="838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8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450" b="0">
                <a:solidFill>
                  <a:srgbClr val="63A8C8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63A8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superposition-bar-0">
            <a:extLst xmlns:a="http://schemas.openxmlformats.org/drawingml/2006/main">
              <a:ext uri="{FF2B5EF4-FFF2-40B4-BE49-F238E27FC236}">
                <a16:creationId xmlns:a16="http://schemas.microsoft.com/office/drawing/2014/main" id="{463D8859-8529-4B3D-8420-D642BFC4C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00500"/>
            <a:ext cx="1047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D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uperposition-bar-1">
            <a:extLst xmlns:a="http://schemas.openxmlformats.org/drawingml/2006/main">
              <a:ext uri="{FF2B5EF4-FFF2-40B4-BE49-F238E27FC236}">
                <a16:creationId xmlns:a16="http://schemas.microsoft.com/office/drawing/2014/main" id="{CF802144-6345-483C-8C83-927FC82B7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895725"/>
            <a:ext cx="1047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D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uperposition-bar-2">
            <a:extLst xmlns:a="http://schemas.openxmlformats.org/drawingml/2006/main">
              <a:ext uri="{FF2B5EF4-FFF2-40B4-BE49-F238E27FC236}">
                <a16:creationId xmlns:a16="http://schemas.microsoft.com/office/drawing/2014/main" id="{CC88CC00-EFA8-4AE7-92A5-5B0DBF7FF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90950"/>
            <a:ext cx="1047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D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uperposition-bar-3">
            <a:extLst xmlns:a="http://schemas.openxmlformats.org/drawingml/2006/main">
              <a:ext uri="{FF2B5EF4-FFF2-40B4-BE49-F238E27FC236}">
                <a16:creationId xmlns:a16="http://schemas.microsoft.com/office/drawing/2014/main" id="{BE555303-C248-41C4-84C2-612B4C621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4000500"/>
            <a:ext cx="1047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D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uperposition-bar-4">
            <a:extLst xmlns:a="http://schemas.openxmlformats.org/drawingml/2006/main">
              <a:ext uri="{FF2B5EF4-FFF2-40B4-BE49-F238E27FC236}">
                <a16:creationId xmlns:a16="http://schemas.microsoft.com/office/drawing/2014/main" id="{CA9BA74A-4614-41CF-A9F7-668E269B0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895725"/>
            <a:ext cx="1047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D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uperposition-bar-5">
            <a:extLst xmlns:a="http://schemas.openxmlformats.org/drawingml/2006/main">
              <a:ext uri="{FF2B5EF4-FFF2-40B4-BE49-F238E27FC236}">
                <a16:creationId xmlns:a16="http://schemas.microsoft.com/office/drawing/2014/main" id="{06224CE0-0D03-415D-B042-8F75A884A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3790950"/>
            <a:ext cx="1047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D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uperposition-bar-6">
            <a:extLst xmlns:a="http://schemas.openxmlformats.org/drawingml/2006/main">
              <a:ext uri="{FF2B5EF4-FFF2-40B4-BE49-F238E27FC236}">
                <a16:creationId xmlns:a16="http://schemas.microsoft.com/office/drawing/2014/main" id="{BAFBBF7D-6DF6-4902-8203-AAFBBC200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000500"/>
            <a:ext cx="1047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D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uperposition-bar-7">
            <a:extLst xmlns:a="http://schemas.openxmlformats.org/drawingml/2006/main">
              <a:ext uri="{FF2B5EF4-FFF2-40B4-BE49-F238E27FC236}">
                <a16:creationId xmlns:a16="http://schemas.microsoft.com/office/drawing/2014/main" id="{8A98DACA-47BB-448E-BA41-D552F7747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895725"/>
            <a:ext cx="1047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D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uperposition-bar-8">
            <a:extLst xmlns:a="http://schemas.openxmlformats.org/drawingml/2006/main">
              <a:ext uri="{FF2B5EF4-FFF2-40B4-BE49-F238E27FC236}">
                <a16:creationId xmlns:a16="http://schemas.microsoft.com/office/drawing/2014/main" id="{D5164D5D-62F9-4199-99E6-5065D3DDF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790950"/>
            <a:ext cx="1047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D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uperposition-bar-9">
            <a:extLst xmlns:a="http://schemas.openxmlformats.org/drawingml/2006/main">
              <a:ext uri="{FF2B5EF4-FFF2-40B4-BE49-F238E27FC236}">
                <a16:creationId xmlns:a16="http://schemas.microsoft.com/office/drawing/2014/main" id="{58C78761-1FA6-427E-B881-3AC94E09E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4000500"/>
            <a:ext cx="1047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D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uperposition-bar-10">
            <a:extLst xmlns:a="http://schemas.openxmlformats.org/drawingml/2006/main">
              <a:ext uri="{FF2B5EF4-FFF2-40B4-BE49-F238E27FC236}">
                <a16:creationId xmlns:a16="http://schemas.microsoft.com/office/drawing/2014/main" id="{6CBC3B97-C7C2-4C3C-8779-C860D4A12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895725"/>
            <a:ext cx="1047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D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uperposition-bar-11">
            <a:extLst xmlns:a="http://schemas.openxmlformats.org/drawingml/2006/main">
              <a:ext uri="{FF2B5EF4-FFF2-40B4-BE49-F238E27FC236}">
                <a16:creationId xmlns:a16="http://schemas.microsoft.com/office/drawing/2014/main" id="{8AE8EC53-DC1B-4ABD-8457-1F46B142C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790950"/>
            <a:ext cx="1047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D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uperposition-caption">
            <a:extLst xmlns:a="http://schemas.openxmlformats.org/drawingml/2006/main">
              <a:ext uri="{FF2B5EF4-FFF2-40B4-BE49-F238E27FC236}">
                <a16:creationId xmlns:a16="http://schemas.microsoft.com/office/drawing/2014/main" id="{C3E673A2-2891-4DB7-9841-E55EBE9A7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291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>
                <a:solidFill>
                  <a:srgbClr val="C9D7E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9D7E7"/>
                </a:solidFill>
                <a:latin typeface="Arial"/>
                <a:ea typeface="Arial"/>
                <a:cs typeface="Arial"/>
              </a:rPr>
              <a:t>many x-values</a:t>
            </a:r>
          </a:p>
        </p:txBody>
      </p:sp>
      <p:sp>
        <p:nvSpPr>
          <p:cNvPr id="25" name="qft-bar-0">
            <a:extLst xmlns:a="http://schemas.openxmlformats.org/drawingml/2006/main">
              <a:ext uri="{FF2B5EF4-FFF2-40B4-BE49-F238E27FC236}">
                <a16:creationId xmlns:a16="http://schemas.microsoft.com/office/drawing/2014/main" id="{D886EE70-4A6F-411B-985D-E52E23512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31470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DC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qft-bar-1">
            <a:extLst xmlns:a="http://schemas.openxmlformats.org/drawingml/2006/main">
              <a:ext uri="{FF2B5EF4-FFF2-40B4-BE49-F238E27FC236}">
                <a16:creationId xmlns:a16="http://schemas.microsoft.com/office/drawing/2014/main" id="{41D56D63-25C7-489D-B9E0-BBD214FF3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276725"/>
            <a:ext cx="762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7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qft-bar-2">
            <a:extLst xmlns:a="http://schemas.openxmlformats.org/drawingml/2006/main">
              <a:ext uri="{FF2B5EF4-FFF2-40B4-BE49-F238E27FC236}">
                <a16:creationId xmlns:a16="http://schemas.microsoft.com/office/drawing/2014/main" id="{E6FE76E6-7DBF-454D-8385-201ACA47C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4276725"/>
            <a:ext cx="762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7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qft-bar-3">
            <a:extLst xmlns:a="http://schemas.openxmlformats.org/drawingml/2006/main">
              <a:ext uri="{FF2B5EF4-FFF2-40B4-BE49-F238E27FC236}">
                <a16:creationId xmlns:a16="http://schemas.microsoft.com/office/drawing/2014/main" id="{205310A6-5644-42DF-BE80-F899F91DD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4276725"/>
            <a:ext cx="762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7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qft-bar-4">
            <a:extLst xmlns:a="http://schemas.openxmlformats.org/drawingml/2006/main">
              <a:ext uri="{FF2B5EF4-FFF2-40B4-BE49-F238E27FC236}">
                <a16:creationId xmlns:a16="http://schemas.microsoft.com/office/drawing/2014/main" id="{6CFCFD58-744B-426C-AE92-3974D49E1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4276725"/>
            <a:ext cx="762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7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qft-bar-5">
            <a:extLst xmlns:a="http://schemas.openxmlformats.org/drawingml/2006/main">
              <a:ext uri="{FF2B5EF4-FFF2-40B4-BE49-F238E27FC236}">
                <a16:creationId xmlns:a16="http://schemas.microsoft.com/office/drawing/2014/main" id="{83A6690D-5622-40FB-ABBA-5BD24B86A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331470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DC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qft-bar-6">
            <a:extLst xmlns:a="http://schemas.openxmlformats.org/drawingml/2006/main">
              <a:ext uri="{FF2B5EF4-FFF2-40B4-BE49-F238E27FC236}">
                <a16:creationId xmlns:a16="http://schemas.microsoft.com/office/drawing/2014/main" id="{12F150AE-E094-48DC-844F-C6DF70212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276725"/>
            <a:ext cx="762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7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qft-bar-7">
            <a:extLst xmlns:a="http://schemas.openxmlformats.org/drawingml/2006/main">
              <a:ext uri="{FF2B5EF4-FFF2-40B4-BE49-F238E27FC236}">
                <a16:creationId xmlns:a16="http://schemas.microsoft.com/office/drawing/2014/main" id="{797983EA-2EBE-4EFC-B035-D1B7811DC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4276725"/>
            <a:ext cx="762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7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qft-bar-8">
            <a:extLst xmlns:a="http://schemas.openxmlformats.org/drawingml/2006/main">
              <a:ext uri="{FF2B5EF4-FFF2-40B4-BE49-F238E27FC236}">
                <a16:creationId xmlns:a16="http://schemas.microsoft.com/office/drawing/2014/main" id="{CC4EBB07-D4BE-428B-AF79-C687ADC59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4276725"/>
            <a:ext cx="762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7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qft-bar-9">
            <a:extLst xmlns:a="http://schemas.openxmlformats.org/drawingml/2006/main">
              <a:ext uri="{FF2B5EF4-FFF2-40B4-BE49-F238E27FC236}">
                <a16:creationId xmlns:a16="http://schemas.microsoft.com/office/drawing/2014/main" id="{360A3D0C-F216-4958-8427-4CF07D6CF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276725"/>
            <a:ext cx="762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7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qft-bar-10">
            <a:extLst xmlns:a="http://schemas.openxmlformats.org/drawingml/2006/main">
              <a:ext uri="{FF2B5EF4-FFF2-40B4-BE49-F238E27FC236}">
                <a16:creationId xmlns:a16="http://schemas.microsoft.com/office/drawing/2014/main" id="{FB7E36BA-4BCA-4EE8-A463-F48143E78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31470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DC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qft-bar-11">
            <a:extLst xmlns:a="http://schemas.openxmlformats.org/drawingml/2006/main">
              <a:ext uri="{FF2B5EF4-FFF2-40B4-BE49-F238E27FC236}">
                <a16:creationId xmlns:a16="http://schemas.microsoft.com/office/drawing/2014/main" id="{E9C89518-AD75-4109-B867-1263FE8D1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276725"/>
            <a:ext cx="762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7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qft-bar-12">
            <a:extLst xmlns:a="http://schemas.openxmlformats.org/drawingml/2006/main">
              <a:ext uri="{FF2B5EF4-FFF2-40B4-BE49-F238E27FC236}">
                <a16:creationId xmlns:a16="http://schemas.microsoft.com/office/drawing/2014/main" id="{AC02844C-6D49-4725-A5C0-7EA48CE5D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276725"/>
            <a:ext cx="762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7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qft-bar-13">
            <a:extLst xmlns:a="http://schemas.openxmlformats.org/drawingml/2006/main">
              <a:ext uri="{FF2B5EF4-FFF2-40B4-BE49-F238E27FC236}">
                <a16:creationId xmlns:a16="http://schemas.microsoft.com/office/drawing/2014/main" id="{3514D526-DAA4-4B83-A836-18E137FA4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276725"/>
            <a:ext cx="762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7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qft-bar-14">
            <a:extLst xmlns:a="http://schemas.openxmlformats.org/drawingml/2006/main">
              <a:ext uri="{FF2B5EF4-FFF2-40B4-BE49-F238E27FC236}">
                <a16:creationId xmlns:a16="http://schemas.microsoft.com/office/drawing/2014/main" id="{ED7A8616-DE61-4241-9BEB-5102A036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276725"/>
            <a:ext cx="762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7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qft-bar-15">
            <a:extLst xmlns:a="http://schemas.openxmlformats.org/drawingml/2006/main">
              <a:ext uri="{FF2B5EF4-FFF2-40B4-BE49-F238E27FC236}">
                <a16:creationId xmlns:a16="http://schemas.microsoft.com/office/drawing/2014/main" id="{45022D32-CBF5-43AD-A9CC-34DBA5288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31470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DC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qft-bar-16">
            <a:extLst xmlns:a="http://schemas.openxmlformats.org/drawingml/2006/main">
              <a:ext uri="{FF2B5EF4-FFF2-40B4-BE49-F238E27FC236}">
                <a16:creationId xmlns:a16="http://schemas.microsoft.com/office/drawing/2014/main" id="{2472DFAB-AB29-454F-A443-B811F7BBD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276725"/>
            <a:ext cx="762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7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qft-bar-17">
            <a:extLst xmlns:a="http://schemas.openxmlformats.org/drawingml/2006/main">
              <a:ext uri="{FF2B5EF4-FFF2-40B4-BE49-F238E27FC236}">
                <a16:creationId xmlns:a16="http://schemas.microsoft.com/office/drawing/2014/main" id="{B31C004A-044F-4579-A228-B3B31E90C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4276725"/>
            <a:ext cx="762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7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qft-caption">
            <a:extLst xmlns:a="http://schemas.openxmlformats.org/drawingml/2006/main">
              <a:ext uri="{FF2B5EF4-FFF2-40B4-BE49-F238E27FC236}">
                <a16:creationId xmlns:a16="http://schemas.microsoft.com/office/drawing/2014/main" id="{4C4D5C9A-3B5D-4430-9AE4-D009FBBA8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6291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>
                <a:solidFill>
                  <a:srgbClr val="C9D7E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9D7E7"/>
                </a:solidFill>
                <a:latin typeface="Arial"/>
                <a:ea typeface="Arial"/>
                <a:cs typeface="Arial"/>
              </a:rPr>
              <a:t>four frequency peaks</a:t>
            </a:r>
          </a:p>
        </p:txBody>
      </p:sp>
      <p:sp>
        <p:nvSpPr>
          <p:cNvPr id="44" name="quantum-period-output-background">
            <a:extLst xmlns:a="http://schemas.openxmlformats.org/drawingml/2006/main">
              <a:ext uri="{FF2B5EF4-FFF2-40B4-BE49-F238E27FC236}">
                <a16:creationId xmlns:a16="http://schemas.microsoft.com/office/drawing/2014/main" id="{BA5E4D0B-5920-4EEC-B13C-3352E5FB3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476625"/>
            <a:ext cx="25717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0E2745"/>
          </a:solidFill>
          <a:ln xmlns:a="http://schemas.openxmlformats.org/drawingml/2006/main" w="9525">
            <a:solidFill>
              <a:srgbClr val="8CDE72"/>
            </a:solidFill>
            <a:prstDash val="solid"/>
          </a:ln>
        </p:spPr>
      </p:sp>
      <p:sp>
        <p:nvSpPr>
          <p:cNvPr id="45" name="quantum-period-output">
            <a:extLst xmlns:a="http://schemas.openxmlformats.org/drawingml/2006/main">
              <a:ext uri="{FF2B5EF4-FFF2-40B4-BE49-F238E27FC236}">
                <a16:creationId xmlns:a16="http://schemas.microsoft.com/office/drawing/2014/main" id="{8D8FF05A-A8DF-47CE-B73B-55A65B84D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609975"/>
            <a:ext cx="21526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4125" b="1">
                <a:solidFill>
                  <a:srgbClr val="8CDE72"/>
                </a:solidFill>
                <a:latin typeface="Courier New"/>
                <a:ea typeface="Courier New"/>
                <a:cs typeface="Courier New"/>
              </a:defRPr>
            </a:pPr>
            <a:r>
              <a:rPr sz="4125" b="1">
                <a:solidFill>
                  <a:srgbClr val="8CDE72"/>
                </a:solidFill>
                <a:latin typeface="Courier New"/>
                <a:ea typeface="Courier New"/>
                <a:cs typeface="Courier New"/>
              </a:rPr>
              <a:t>r = 4</a:t>
            </a:r>
          </a:p>
        </p:txBody>
      </p:sp>
      <p:sp>
        <p:nvSpPr>
          <p:cNvPr id="46" name="quantum-explanation">
            <a:extLst xmlns:a="http://schemas.openxmlformats.org/drawingml/2006/main">
              <a:ext uri="{FF2B5EF4-FFF2-40B4-BE49-F238E27FC236}">
                <a16:creationId xmlns:a16="http://schemas.microsoft.com/office/drawing/2014/main" id="{F67022D4-056A-4D54-91E9-474C770D6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334000"/>
            <a:ext cx="845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0">
                <a:solidFill>
                  <a:srgbClr val="C9D7E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C9D7E7"/>
                </a:solidFill>
                <a:latin typeface="Arial"/>
                <a:ea typeface="Arial"/>
                <a:cs typeface="Arial"/>
              </a:rPr>
              <a:t>The QFT reveals the hidden frequency structure; classical post-processing reconstructs r.</a:t>
            </a:r>
          </a:p>
        </p:txBody>
      </p:sp>
      <p:sp>
        <p:nvSpPr>
          <p:cNvPr id="47" name="footer">
            <a:extLst xmlns:a="http://schemas.openxmlformats.org/drawingml/2006/main">
              <a:ext uri="{FF2B5EF4-FFF2-40B4-BE49-F238E27FC236}">
                <a16:creationId xmlns:a16="http://schemas.microsoft.com/office/drawing/2014/main" id="{DA919BBA-965E-43C2-AA77-298668E19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8FA9C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FA9C3"/>
                </a:solidFill>
                <a:latin typeface="Arial"/>
                <a:ea typeface="Arial"/>
                <a:cs typeface="Arial"/>
              </a:rPr>
              <a:t>SHOR'S ALGORITHM · FACTORING N = 15</a:t>
            </a:r>
          </a:p>
        </p:txBody>
      </p:sp>
    </p:spTree>
    <p:extLst>
      <p:ext uri="{BB962C8B-B14F-4D97-AF65-F5344CB8AC3E}">
        <p14:creationId xmlns:p14="http://schemas.microsoft.com/office/powerpoint/2010/main" val="11532056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6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2A3FDD87-2A09-4E26-BAE2-67A642F18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63A8C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3A8C8"/>
                </a:solidFill>
                <a:latin typeface="Arial"/>
                <a:ea typeface="Arial"/>
                <a:cs typeface="Arial"/>
              </a:rPr>
              <a:t>STEP 4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4732600-F0A2-4D59-A90F-F7B08E73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8FC"/>
                </a:solidFill>
                <a:latin typeface="Arial"/>
                <a:ea typeface="Arial"/>
                <a:cs typeface="Arial"/>
              </a:rPr>
              <a:t>The period passes both checks.</a:t>
            </a:r>
          </a:p>
        </p:txBody>
      </p:sp>
      <p:sp>
        <p:nvSpPr>
          <p:cNvPr id="3" name="rule-72-153">
            <a:extLst xmlns:a="http://schemas.openxmlformats.org/drawingml/2006/main">
              <a:ext uri="{FF2B5EF4-FFF2-40B4-BE49-F238E27FC236}">
                <a16:creationId xmlns:a16="http://schemas.microsoft.com/office/drawing/2014/main" id="{D68E355D-A0DD-47B5-BC81-DA0062940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573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9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578EF61-16E4-410B-B581-A0F5C705D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667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8FA9C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FA9C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step-number-bg-1">
            <a:extLst xmlns:a="http://schemas.openxmlformats.org/drawingml/2006/main">
              <a:ext uri="{FF2B5EF4-FFF2-40B4-BE49-F238E27FC236}">
                <a16:creationId xmlns:a16="http://schemas.microsoft.com/office/drawing/2014/main" id="{C2BD8A77-AEC8-4378-B8A7-D672337E6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DE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tep-number-front-1">
            <a:extLst xmlns:a="http://schemas.openxmlformats.org/drawingml/2006/main">
              <a:ext uri="{FF2B5EF4-FFF2-40B4-BE49-F238E27FC236}">
                <a16:creationId xmlns:a16="http://schemas.microsoft.com/office/drawing/2014/main" id="{950BB39F-0472-46E0-9093-3D106DC08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0617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6172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7BD1A468-1784-46BA-BEEB-E20AA528E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009775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C9D7E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9D7E7"/>
                </a:solidFill>
                <a:latin typeface="Arial"/>
                <a:ea typeface="Arial"/>
                <a:cs typeface="Arial"/>
              </a:rPr>
              <a:t>The period must be even</a:t>
            </a:r>
          </a:p>
        </p:txBody>
      </p:sp>
      <p:sp>
        <p:nvSpPr>
          <p:cNvPr id="8" name="even-period">
            <a:extLst xmlns:a="http://schemas.openxmlformats.org/drawingml/2006/main">
              <a:ext uri="{FF2B5EF4-FFF2-40B4-BE49-F238E27FC236}">
                <a16:creationId xmlns:a16="http://schemas.microsoft.com/office/drawing/2014/main" id="{CF1B0DA1-6E7B-4870-B361-BB711A2F6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52600"/>
            <a:ext cx="476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700" b="1">
                <a:solidFill>
                  <a:srgbClr val="8CDE72"/>
                </a:solidFill>
                <a:latin typeface="Courier New"/>
                <a:ea typeface="Courier New"/>
                <a:cs typeface="Courier New"/>
              </a:defRPr>
            </a:pPr>
            <a:r>
              <a:rPr sz="2700" b="1">
                <a:solidFill>
                  <a:srgbClr val="8CDE72"/>
                </a:solidFill>
                <a:latin typeface="Courier New"/>
                <a:ea typeface="Courier New"/>
                <a:cs typeface="Courier New"/>
              </a:rPr>
              <a:t>r = 4 is even    ✓</a:t>
            </a:r>
          </a:p>
        </p:txBody>
      </p:sp>
      <p:sp>
        <p:nvSpPr>
          <p:cNvPr id="9" name="step-number-bg-2">
            <a:extLst xmlns:a="http://schemas.openxmlformats.org/drawingml/2006/main">
              <a:ext uri="{FF2B5EF4-FFF2-40B4-BE49-F238E27FC236}">
                <a16:creationId xmlns:a16="http://schemas.microsoft.com/office/drawing/2014/main" id="{B28419B8-EDFD-4275-B41F-48ED919D5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tep-number-front-2">
            <a:extLst xmlns:a="http://schemas.openxmlformats.org/drawingml/2006/main">
              <a:ext uri="{FF2B5EF4-FFF2-40B4-BE49-F238E27FC236}">
                <a16:creationId xmlns:a16="http://schemas.microsoft.com/office/drawing/2014/main" id="{EAE4A571-C5F4-4103-9870-B927135EF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0617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6172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AD4C303D-0269-4318-B6D6-14E254ED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00375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C9D7E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9D7E7"/>
                </a:solidFill>
                <a:latin typeface="Arial"/>
                <a:ea typeface="Arial"/>
                <a:cs typeface="Arial"/>
              </a:rPr>
              <a:t>Calculate the half-period power</a:t>
            </a:r>
          </a:p>
        </p:txBody>
      </p:sp>
      <p:sp>
        <p:nvSpPr>
          <p:cNvPr id="12" name="half-period-power">
            <a:extLst xmlns:a="http://schemas.openxmlformats.org/drawingml/2006/main">
              <a:ext uri="{FF2B5EF4-FFF2-40B4-BE49-F238E27FC236}">
                <a16:creationId xmlns:a16="http://schemas.microsoft.com/office/drawing/2014/main" id="{39659E66-721D-479B-84A0-F5C766226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43200"/>
            <a:ext cx="476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700" b="1">
                <a:solidFill>
                  <a:srgbClr val="F4F8FC"/>
                </a:solidFill>
                <a:latin typeface="Courier New"/>
                <a:ea typeface="Courier New"/>
                <a:cs typeface="Courier New"/>
              </a:defRPr>
            </a:pPr>
            <a:r>
              <a:rPr sz="2700" b="1">
                <a:solidFill>
                  <a:srgbClr val="F4F8FC"/>
                </a:solidFill>
                <a:latin typeface="Courier New"/>
                <a:ea typeface="Courier New"/>
                <a:cs typeface="Courier New"/>
              </a:rPr>
              <a:t>y = 2^(4/2) = 2² = 4</a:t>
            </a:r>
          </a:p>
        </p:txBody>
      </p:sp>
      <p:sp>
        <p:nvSpPr>
          <p:cNvPr id="13" name="step-number-bg-3">
            <a:extLst xmlns:a="http://schemas.openxmlformats.org/drawingml/2006/main">
              <a:ext uri="{FF2B5EF4-FFF2-40B4-BE49-F238E27FC236}">
                <a16:creationId xmlns:a16="http://schemas.microsoft.com/office/drawing/2014/main" id="{41CC2D48-A451-4097-8E66-A3DF723E1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7D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tep-number-front-3">
            <a:extLst xmlns:a="http://schemas.openxmlformats.org/drawingml/2006/main">
              <a:ext uri="{FF2B5EF4-FFF2-40B4-BE49-F238E27FC236}">
                <a16:creationId xmlns:a16="http://schemas.microsoft.com/office/drawing/2014/main" id="{840FDE6B-9974-44C9-8D11-F3219451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0617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6172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0DFAA7EC-2AA3-4DE5-86C0-6262D018D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90975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C9D7E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9D7E7"/>
                </a:solidFill>
                <a:latin typeface="Arial"/>
                <a:ea typeface="Arial"/>
                <a:cs typeface="Arial"/>
              </a:rPr>
              <a:t>Check y modulo N</a:t>
            </a:r>
          </a:p>
        </p:txBody>
      </p:sp>
      <p:sp>
        <p:nvSpPr>
          <p:cNvPr id="16" name="half-mod-division">
            <a:extLst xmlns:a="http://schemas.openxmlformats.org/drawingml/2006/main">
              <a:ext uri="{FF2B5EF4-FFF2-40B4-BE49-F238E27FC236}">
                <a16:creationId xmlns:a16="http://schemas.microsoft.com/office/drawing/2014/main" id="{B88F9823-30D7-4860-80C7-CA9E0DF54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325" b="1">
                <a:solidFill>
                  <a:srgbClr val="F4F8FC"/>
                </a:solidFill>
                <a:latin typeface="Courier New"/>
                <a:ea typeface="Courier New"/>
                <a:cs typeface="Courier New"/>
              </a:defRPr>
            </a:pPr>
            <a:r>
              <a:rPr sz="2325" b="1">
                <a:solidFill>
                  <a:srgbClr val="F4F8FC"/>
                </a:solidFill>
                <a:latin typeface="Courier New"/>
                <a:ea typeface="Courier New"/>
                <a:cs typeface="Courier New"/>
              </a:rPr>
              <a:t>4 = 0 × 15 + 4</a:t>
            </a:r>
          </a:p>
        </p:txBody>
      </p:sp>
      <p:sp>
        <p:nvSpPr>
          <p:cNvPr id="17" name="half-mod-result">
            <a:extLst xmlns:a="http://schemas.openxmlformats.org/drawingml/2006/main">
              <a:ext uri="{FF2B5EF4-FFF2-40B4-BE49-F238E27FC236}">
                <a16:creationId xmlns:a16="http://schemas.microsoft.com/office/drawing/2014/main" id="{C8DD761F-368C-4114-86BE-189DE37A2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48175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8CDE72"/>
                </a:solidFill>
                <a:latin typeface="Courier New"/>
                <a:ea typeface="Courier New"/>
                <a:cs typeface="Courier New"/>
              </a:defRPr>
            </a:pPr>
            <a:r>
              <a:rPr sz="2550" b="1">
                <a:solidFill>
                  <a:srgbClr val="8CDE72"/>
                </a:solidFill>
                <a:latin typeface="Courier New"/>
                <a:ea typeface="Courier New"/>
                <a:cs typeface="Courier New"/>
              </a:rPr>
              <a:t>4 mod 15 = 4</a:t>
            </a:r>
          </a:p>
        </p:txBody>
      </p:sp>
      <p:sp>
        <p:nvSpPr>
          <p:cNvPr id="18" name="validation-takeaway">
            <a:extLst xmlns:a="http://schemas.openxmlformats.org/drawingml/2006/main">
              <a:ext uri="{FF2B5EF4-FFF2-40B4-BE49-F238E27FC236}">
                <a16:creationId xmlns:a16="http://schemas.microsoft.com/office/drawing/2014/main" id="{EB400372-D3C1-4A69-B3A1-B649AECB0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514975"/>
            <a:ext cx="8801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0">
                <a:solidFill>
                  <a:srgbClr val="C9D7E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C9D7E7"/>
                </a:solidFill>
                <a:latin typeface="Arial"/>
                <a:ea typeface="Arial"/>
                <a:cs typeface="Arial"/>
              </a:rPr>
              <a:t>The period is usable: y is neither +1 nor −1 modulo 15 (−1 ≡ 14).</a:t>
            </a:r>
          </a:p>
        </p:txBody>
      </p:sp>
      <p:sp>
        <p:nvSpPr>
          <p:cNvPr id="19" name="footer">
            <a:extLst xmlns:a="http://schemas.openxmlformats.org/drawingml/2006/main">
              <a:ext uri="{FF2B5EF4-FFF2-40B4-BE49-F238E27FC236}">
                <a16:creationId xmlns:a16="http://schemas.microsoft.com/office/drawing/2014/main" id="{F5CD4F44-56FB-4898-A383-753F8E09E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8FA9C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FA9C3"/>
                </a:solidFill>
                <a:latin typeface="Arial"/>
                <a:ea typeface="Arial"/>
                <a:cs typeface="Arial"/>
              </a:rPr>
              <a:t>SHOR'S ALGORITHM · FACTORING N = 15</a:t>
            </a:r>
          </a:p>
        </p:txBody>
      </p:sp>
    </p:spTree>
    <p:extLst>
      <p:ext uri="{BB962C8B-B14F-4D97-AF65-F5344CB8AC3E}">
        <p14:creationId xmlns:p14="http://schemas.microsoft.com/office/powerpoint/2010/main" val="62725284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6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B785E8CE-4695-4B2A-A950-0004CCAC4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63A8C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3A8C8"/>
                </a:solidFill>
                <a:latin typeface="Arial"/>
                <a:ea typeface="Arial"/>
                <a:cs typeface="Arial"/>
              </a:rPr>
              <a:t>STEP 5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6B93484-9A2A-48A5-BD5C-043950825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8FC"/>
                </a:solidFill>
                <a:latin typeface="Arial"/>
                <a:ea typeface="Arial"/>
                <a:cs typeface="Arial"/>
              </a:rPr>
              <a:t>One number now has two useful factorizations.</a:t>
            </a:r>
          </a:p>
        </p:txBody>
      </p:sp>
      <p:sp>
        <p:nvSpPr>
          <p:cNvPr id="3" name="rule-72-153">
            <a:extLst xmlns:a="http://schemas.openxmlformats.org/drawingml/2006/main">
              <a:ext uri="{FF2B5EF4-FFF2-40B4-BE49-F238E27FC236}">
                <a16:creationId xmlns:a16="http://schemas.microsoft.com/office/drawing/2014/main" id="{70A2C074-266E-4AB5-81D9-9F2E29F37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573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9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E499F97-6E8C-4F70-BE93-FDB5B5A44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667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8FA9C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FA9C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period-modulo-one-background">
            <a:extLst xmlns:a="http://schemas.openxmlformats.org/drawingml/2006/main">
              <a:ext uri="{FF2B5EF4-FFF2-40B4-BE49-F238E27FC236}">
                <a16:creationId xmlns:a16="http://schemas.microsoft.com/office/drawing/2014/main" id="{0941ED48-C640-44E9-9777-177532EAC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752600"/>
            <a:ext cx="97536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0E2745"/>
          </a:solidFill>
          <a:ln xmlns:a="http://schemas.openxmlformats.org/drawingml/2006/main" w="9525">
            <a:solidFill>
              <a:srgbClr val="63A8C8"/>
            </a:solidFill>
            <a:prstDash val="solid"/>
          </a:ln>
        </p:spPr>
      </p:sp>
      <p:sp>
        <p:nvSpPr>
          <p:cNvPr id="6" name="period-modulo-one">
            <a:extLst xmlns:a="http://schemas.openxmlformats.org/drawingml/2006/main">
              <a:ext uri="{FF2B5EF4-FFF2-40B4-BE49-F238E27FC236}">
                <a16:creationId xmlns:a16="http://schemas.microsoft.com/office/drawing/2014/main" id="{6C1AF588-BDC5-4FC9-804C-F36002396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85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66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225" b="1">
                <a:solidFill>
                  <a:srgbClr val="F4F8FC"/>
                </a:solidFill>
                <a:latin typeface="Courier New"/>
                <a:ea typeface="Courier New"/>
                <a:cs typeface="Courier New"/>
              </a:defRPr>
            </a:pPr>
            <a:r>
              <a:rPr sz="3225" b="1">
                <a:solidFill>
                  <a:srgbClr val="F4F8FC"/>
                </a:solidFill>
                <a:latin typeface="Courier New"/>
                <a:ea typeface="Courier New"/>
                <a:cs typeface="Courier New"/>
              </a:rPr>
              <a:t>2⁴ mod 15 = 1</a:t>
            </a:r>
          </a:p>
        </p:txBody>
      </p:sp>
      <p:sp>
        <p:nvSpPr>
          <p:cNvPr id="7" name="because-label">
            <a:extLst xmlns:a="http://schemas.openxmlformats.org/drawingml/2006/main">
              <a:ext uri="{FF2B5EF4-FFF2-40B4-BE49-F238E27FC236}">
                <a16:creationId xmlns:a16="http://schemas.microsoft.com/office/drawing/2014/main" id="{86E31644-B5F9-45A0-9BBC-C81932CCA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765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8FA9C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FA9C3"/>
                </a:solidFill>
                <a:latin typeface="Arial"/>
                <a:ea typeface="Arial"/>
                <a:cs typeface="Arial"/>
              </a:rPr>
              <a:t>because</a:t>
            </a:r>
          </a:p>
        </p:txBody>
      </p:sp>
      <p:sp>
        <p:nvSpPr>
          <p:cNvPr id="8" name="period-division">
            <a:extLst xmlns:a="http://schemas.openxmlformats.org/drawingml/2006/main">
              <a:ext uri="{FF2B5EF4-FFF2-40B4-BE49-F238E27FC236}">
                <a16:creationId xmlns:a16="http://schemas.microsoft.com/office/drawing/2014/main" id="{DCCD7934-C5AC-4128-B37E-709172693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667000"/>
            <a:ext cx="400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325" b="1">
                <a:solidFill>
                  <a:srgbClr val="F4F8FC"/>
                </a:solidFill>
                <a:latin typeface="Courier New"/>
                <a:ea typeface="Courier New"/>
                <a:cs typeface="Courier New"/>
              </a:defRPr>
            </a:pPr>
            <a:r>
              <a:rPr sz="2325" b="1">
                <a:solidFill>
                  <a:srgbClr val="F4F8FC"/>
                </a:solidFill>
                <a:latin typeface="Courier New"/>
                <a:ea typeface="Courier New"/>
                <a:cs typeface="Courier New"/>
              </a:rPr>
              <a:t>16 = 1 × 15 + 1</a:t>
            </a:r>
          </a:p>
        </p:txBody>
      </p:sp>
      <p:sp>
        <p:nvSpPr>
          <p:cNvPr id="9" name="subtract-label">
            <a:extLst xmlns:a="http://schemas.openxmlformats.org/drawingml/2006/main">
              <a:ext uri="{FF2B5EF4-FFF2-40B4-BE49-F238E27FC236}">
                <a16:creationId xmlns:a16="http://schemas.microsoft.com/office/drawing/2014/main" id="{B66D40E9-BB15-4D06-939F-9DD6D1597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8765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8FA9C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FA9C3"/>
                </a:solidFill>
                <a:latin typeface="Arial"/>
                <a:ea typeface="Arial"/>
                <a:cs typeface="Arial"/>
              </a:rPr>
              <a:t>subtract 1</a:t>
            </a:r>
          </a:p>
        </p:txBody>
      </p:sp>
      <p:sp>
        <p:nvSpPr>
          <p:cNvPr id="10" name="exact-divisibility">
            <a:extLst xmlns:a="http://schemas.openxmlformats.org/drawingml/2006/main">
              <a:ext uri="{FF2B5EF4-FFF2-40B4-BE49-F238E27FC236}">
                <a16:creationId xmlns:a16="http://schemas.microsoft.com/office/drawing/2014/main" id="{67F9D8FC-9FC7-4760-978E-B96AD4620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667000"/>
            <a:ext cx="400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325" b="1">
                <a:solidFill>
                  <a:srgbClr val="8CDE72"/>
                </a:solidFill>
                <a:latin typeface="Courier New"/>
                <a:ea typeface="Courier New"/>
                <a:cs typeface="Courier New"/>
              </a:defRPr>
            </a:pPr>
            <a:r>
              <a:rPr sz="2325" b="1">
                <a:solidFill>
                  <a:srgbClr val="8CDE72"/>
                </a:solidFill>
                <a:latin typeface="Courier New"/>
                <a:ea typeface="Courier New"/>
                <a:cs typeface="Courier New"/>
              </a:rPr>
              <a:t>15 = 15 × 1</a:t>
            </a:r>
          </a:p>
        </p:txBody>
      </p:sp>
      <p:sp>
        <p:nvSpPr>
          <p:cNvPr id="11" name="rule-640-380">
            <a:extLst xmlns:a="http://schemas.openxmlformats.org/drawingml/2006/main">
              <a:ext uri="{FF2B5EF4-FFF2-40B4-BE49-F238E27FC236}">
                <a16:creationId xmlns:a16="http://schemas.microsoft.com/office/drawing/2014/main" id="{B89E60AD-5112-43BA-947B-C232F7C05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19500"/>
            <a:ext cx="190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9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ultiple-label">
            <a:extLst xmlns:a="http://schemas.openxmlformats.org/drawingml/2006/main">
              <a:ext uri="{FF2B5EF4-FFF2-40B4-BE49-F238E27FC236}">
                <a16:creationId xmlns:a16="http://schemas.microsoft.com/office/drawing/2014/main" id="{9FA26F40-3BE8-46EE-B01E-C0FD39572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63A8C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63A8C8"/>
                </a:solidFill>
                <a:latin typeface="Arial"/>
                <a:ea typeface="Arial"/>
                <a:cs typeface="Arial"/>
              </a:rPr>
              <a:t>Multiple of N</a:t>
            </a:r>
          </a:p>
        </p:txBody>
      </p:sp>
      <p:sp>
        <p:nvSpPr>
          <p:cNvPr id="13" name="multiple-identity">
            <a:extLst xmlns:a="http://schemas.openxmlformats.org/drawingml/2006/main">
              <a:ext uri="{FF2B5EF4-FFF2-40B4-BE49-F238E27FC236}">
                <a16:creationId xmlns:a16="http://schemas.microsoft.com/office/drawing/2014/main" id="{D310E4C2-D02E-4B75-8BBC-39502A039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62450"/>
            <a:ext cx="4000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925" b="1">
                <a:solidFill>
                  <a:srgbClr val="F4F8FC"/>
                </a:solidFill>
                <a:latin typeface="Courier New"/>
                <a:ea typeface="Courier New"/>
                <a:cs typeface="Courier New"/>
              </a:defRPr>
            </a:pPr>
            <a:r>
              <a:rPr sz="2925" b="1">
                <a:solidFill>
                  <a:srgbClr val="F4F8FC"/>
                </a:solidFill>
                <a:latin typeface="Courier New"/>
                <a:ea typeface="Courier New"/>
                <a:cs typeface="Courier New"/>
              </a:rPr>
              <a:t>15 = 15 × 1</a:t>
            </a:r>
          </a:p>
        </p:txBody>
      </p:sp>
      <p:sp>
        <p:nvSpPr>
          <p:cNvPr id="14" name="difference-label">
            <a:extLst xmlns:a="http://schemas.openxmlformats.org/drawingml/2006/main">
              <a:ext uri="{FF2B5EF4-FFF2-40B4-BE49-F238E27FC236}">
                <a16:creationId xmlns:a16="http://schemas.microsoft.com/office/drawing/2014/main" id="{EE68AB80-2B46-439B-8751-BE3D6D500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9052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F47D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47D3D"/>
                </a:solidFill>
                <a:latin typeface="Arial"/>
                <a:ea typeface="Arial"/>
                <a:cs typeface="Arial"/>
              </a:rPr>
              <a:t>Difference of squares</a:t>
            </a:r>
          </a:p>
        </p:txBody>
      </p:sp>
      <p:sp>
        <p:nvSpPr>
          <p:cNvPr id="15" name="difference-identity">
            <a:extLst xmlns:a="http://schemas.openxmlformats.org/drawingml/2006/main">
              <a:ext uri="{FF2B5EF4-FFF2-40B4-BE49-F238E27FC236}">
                <a16:creationId xmlns:a16="http://schemas.microsoft.com/office/drawing/2014/main" id="{94CDA0CB-3210-4E72-A41C-AFC3705B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8625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00" b="1">
                <a:solidFill>
                  <a:srgbClr val="F4F8FC"/>
                </a:solidFill>
                <a:latin typeface="Courier New"/>
                <a:ea typeface="Courier New"/>
                <a:cs typeface="Courier New"/>
              </a:defRPr>
            </a:pPr>
            <a:r>
              <a:rPr sz="2400" b="1">
                <a:solidFill>
                  <a:srgbClr val="F4F8FC"/>
                </a:solidFill>
                <a:latin typeface="Courier New"/>
                <a:ea typeface="Courier New"/>
                <a:cs typeface="Courier New"/>
              </a:rPr>
              <a:t>15 = (4 − 1)(4 + 1)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2400" b="1">
                <a:solidFill>
                  <a:srgbClr val="F4F8FC"/>
                </a:solidFill>
                <a:latin typeface="Courier New"/>
                <a:ea typeface="Courier New"/>
                <a:cs typeface="Courier New"/>
              </a:defRPr>
            </a:pPr>
            <a:r>
              <a:rPr sz="2400" b="1">
                <a:solidFill>
                  <a:srgbClr val="F4F8FC"/>
                </a:solidFill>
                <a:latin typeface="Courier New"/>
                <a:ea typeface="Courier New"/>
                <a:cs typeface="Courier New"/>
              </a:rPr>
              <a:t>     = 3 × 5</a:t>
            </a:r>
          </a:p>
        </p:txBody>
      </p:sp>
      <p:sp>
        <p:nvSpPr>
          <p:cNvPr id="16" name="identity-takeaway">
            <a:extLst xmlns:a="http://schemas.openxmlformats.org/drawingml/2006/main">
              <a:ext uri="{FF2B5EF4-FFF2-40B4-BE49-F238E27FC236}">
                <a16:creationId xmlns:a16="http://schemas.microsoft.com/office/drawing/2014/main" id="{CB8E661F-C36B-4AA2-891C-2CBC32DCC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531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0">
                <a:solidFill>
                  <a:srgbClr val="C9D7E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9D7E7"/>
                </a:solidFill>
                <a:latin typeface="Arial"/>
                <a:ea typeface="Arial"/>
                <a:cs typeface="Arial"/>
              </a:rPr>
              <a:t>Because 15 divides the product, the candidates 3 and 5 can share non-trivial factors with 15.</a:t>
            </a:r>
          </a:p>
        </p:txBody>
      </p:sp>
      <p:sp>
        <p:nvSpPr>
          <p:cNvPr id="17" name="footer">
            <a:extLst xmlns:a="http://schemas.openxmlformats.org/drawingml/2006/main">
              <a:ext uri="{FF2B5EF4-FFF2-40B4-BE49-F238E27FC236}">
                <a16:creationId xmlns:a16="http://schemas.microsoft.com/office/drawing/2014/main" id="{4A86B1E7-8AC0-4B4E-B517-4F37CD622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8FA9C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FA9C3"/>
                </a:solidFill>
                <a:latin typeface="Arial"/>
                <a:ea typeface="Arial"/>
                <a:cs typeface="Arial"/>
              </a:rPr>
              <a:t>SHOR'S ALGORITHM · FACTORING N = 15</a:t>
            </a:r>
          </a:p>
        </p:txBody>
      </p:sp>
    </p:spTree>
    <p:extLst>
      <p:ext uri="{BB962C8B-B14F-4D97-AF65-F5344CB8AC3E}">
        <p14:creationId xmlns:p14="http://schemas.microsoft.com/office/powerpoint/2010/main" val="159116466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6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B0E59627-0A1B-40E7-AFA5-3231E55DC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63A8C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3A8C8"/>
                </a:solidFill>
                <a:latin typeface="Arial"/>
                <a:ea typeface="Arial"/>
                <a:cs typeface="Arial"/>
              </a:rPr>
              <a:t>STEP 6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F975145-CAA6-4E46-91A1-C515442B0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8FC"/>
                </a:solidFill>
                <a:latin typeface="Arial"/>
                <a:ea typeface="Arial"/>
                <a:cs typeface="Arial"/>
              </a:rPr>
              <a:t>Two gcd calculations reveal 3 and 5.</a:t>
            </a:r>
          </a:p>
        </p:txBody>
      </p:sp>
      <p:sp>
        <p:nvSpPr>
          <p:cNvPr id="3" name="rule-72-153">
            <a:extLst xmlns:a="http://schemas.openxmlformats.org/drawingml/2006/main">
              <a:ext uri="{FF2B5EF4-FFF2-40B4-BE49-F238E27FC236}">
                <a16:creationId xmlns:a16="http://schemas.microsoft.com/office/drawing/2014/main" id="{5B996D99-F2A8-4554-A91A-21D1E8253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573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9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D25745D-ACE4-4901-8B19-F465C5A7D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667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8FA9C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FA9C3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first-candidate-label">
            <a:extLst xmlns:a="http://schemas.openxmlformats.org/drawingml/2006/main">
              <a:ext uri="{FF2B5EF4-FFF2-40B4-BE49-F238E27FC236}">
                <a16:creationId xmlns:a16="http://schemas.microsoft.com/office/drawing/2014/main" id="{CE9144EA-EDA3-4695-9C11-E44268587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8FA9C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8FA9C3"/>
                </a:solidFill>
                <a:latin typeface="Arial"/>
                <a:ea typeface="Arial"/>
                <a:cs typeface="Arial"/>
              </a:rPr>
              <a:t>First candidate</a:t>
            </a:r>
          </a:p>
        </p:txBody>
      </p:sp>
      <p:sp>
        <p:nvSpPr>
          <p:cNvPr id="6" name="first-gcd-background">
            <a:extLst xmlns:a="http://schemas.openxmlformats.org/drawingml/2006/main">
              <a:ext uri="{FF2B5EF4-FFF2-40B4-BE49-F238E27FC236}">
                <a16:creationId xmlns:a16="http://schemas.microsoft.com/office/drawing/2014/main" id="{A52F59C0-AD6F-49AB-8FCD-B8A74335F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00300"/>
            <a:ext cx="41910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0E2745"/>
          </a:solidFill>
          <a:ln xmlns:a="http://schemas.openxmlformats.org/drawingml/2006/main" w="9525">
            <a:solidFill>
              <a:srgbClr val="8CDE72"/>
            </a:solidFill>
            <a:prstDash val="solid"/>
          </a:ln>
        </p:spPr>
      </p:sp>
      <p:sp>
        <p:nvSpPr>
          <p:cNvPr id="7" name="first-gcd">
            <a:extLst xmlns:a="http://schemas.openxmlformats.org/drawingml/2006/main">
              <a:ext uri="{FF2B5EF4-FFF2-40B4-BE49-F238E27FC236}">
                <a16:creationId xmlns:a16="http://schemas.microsoft.com/office/drawing/2014/main" id="{ED85FF9C-6E5A-491A-B968-982F6BEA6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533650"/>
            <a:ext cx="377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850" b="1">
                <a:solidFill>
                  <a:srgbClr val="8CDE72"/>
                </a:solidFill>
                <a:latin typeface="Courier New"/>
                <a:ea typeface="Courier New"/>
                <a:cs typeface="Courier New"/>
              </a:defRPr>
            </a:pPr>
            <a:r>
              <a:rPr sz="2850" b="1">
                <a:solidFill>
                  <a:srgbClr val="8CDE72"/>
                </a:solidFill>
                <a:latin typeface="Courier New"/>
                <a:ea typeface="Courier New"/>
                <a:cs typeface="Courier New"/>
              </a:rPr>
              <a:t>gcd(3, 15) = 3</a:t>
            </a:r>
          </a:p>
        </p:txBody>
      </p:sp>
      <p:sp>
        <p:nvSpPr>
          <p:cNvPr id="8" name="second-candidate-label">
            <a:extLst xmlns:a="http://schemas.openxmlformats.org/drawingml/2006/main">
              <a:ext uri="{FF2B5EF4-FFF2-40B4-BE49-F238E27FC236}">
                <a16:creationId xmlns:a16="http://schemas.microsoft.com/office/drawing/2014/main" id="{9C2FD53E-87C7-4FFF-9B62-6CD25889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9240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8FA9C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8FA9C3"/>
                </a:solidFill>
                <a:latin typeface="Arial"/>
                <a:ea typeface="Arial"/>
                <a:cs typeface="Arial"/>
              </a:rPr>
              <a:t>Second candidate</a:t>
            </a:r>
          </a:p>
        </p:txBody>
      </p:sp>
      <p:sp>
        <p:nvSpPr>
          <p:cNvPr id="9" name="second-gcd-background">
            <a:extLst xmlns:a="http://schemas.openxmlformats.org/drawingml/2006/main">
              <a:ext uri="{FF2B5EF4-FFF2-40B4-BE49-F238E27FC236}">
                <a16:creationId xmlns:a16="http://schemas.microsoft.com/office/drawing/2014/main" id="{6AAC09FD-44D8-4BC0-8E0C-B6019FE84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00300"/>
            <a:ext cx="41910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0E2745"/>
          </a:solidFill>
          <a:ln xmlns:a="http://schemas.openxmlformats.org/drawingml/2006/main" w="9525">
            <a:solidFill>
              <a:srgbClr val="8CDE72"/>
            </a:solidFill>
            <a:prstDash val="solid"/>
          </a:ln>
        </p:spPr>
      </p:sp>
      <p:sp>
        <p:nvSpPr>
          <p:cNvPr id="10" name="second-gcd">
            <a:extLst xmlns:a="http://schemas.openxmlformats.org/drawingml/2006/main">
              <a:ext uri="{FF2B5EF4-FFF2-40B4-BE49-F238E27FC236}">
                <a16:creationId xmlns:a16="http://schemas.microsoft.com/office/drawing/2014/main" id="{E7709D64-4C3E-4DCA-86DC-FE0B85E6E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33650"/>
            <a:ext cx="377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850" b="1">
                <a:solidFill>
                  <a:srgbClr val="8CDE72"/>
                </a:solidFill>
                <a:latin typeface="Courier New"/>
                <a:ea typeface="Courier New"/>
                <a:cs typeface="Courier New"/>
              </a:defRPr>
            </a:pPr>
            <a:r>
              <a:rPr sz="2850" b="1">
                <a:solidFill>
                  <a:srgbClr val="8CDE72"/>
                </a:solidFill>
                <a:latin typeface="Courier New"/>
                <a:ea typeface="Courier New"/>
                <a:cs typeface="Courier New"/>
              </a:rPr>
              <a:t>gcd(5, 15) = 5</a:t>
            </a:r>
          </a:p>
        </p:txBody>
      </p:sp>
      <p:sp>
        <p:nvSpPr>
          <p:cNvPr id="11" name="result-arrow">
            <a:extLst xmlns:a="http://schemas.openxmlformats.org/drawingml/2006/main">
              <a:ext uri="{FF2B5EF4-FFF2-40B4-BE49-F238E27FC236}">
                <a16:creationId xmlns:a16="http://schemas.microsoft.com/office/drawing/2014/main" id="{88288BCA-086A-44D5-B031-A2DD7D15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581400"/>
            <a:ext cx="133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375" b="0">
                <a:solidFill>
                  <a:srgbClr val="63A8C8"/>
                </a:solidFill>
                <a:latin typeface="Arial"/>
                <a:ea typeface="Arial"/>
                <a:cs typeface="Arial"/>
              </a:defRPr>
            </a:pPr>
            <a:r>
              <a:rPr sz="3375" b="0">
                <a:solidFill>
                  <a:srgbClr val="63A8C8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2" name="final-factorization-background">
            <a:extLst xmlns:a="http://schemas.openxmlformats.org/drawingml/2006/main">
              <a:ext uri="{FF2B5EF4-FFF2-40B4-BE49-F238E27FC236}">
                <a16:creationId xmlns:a16="http://schemas.microsoft.com/office/drawing/2014/main" id="{338764A6-163B-417A-AC85-1BAFDB6BB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305300"/>
            <a:ext cx="67437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133354"/>
          </a:solidFill>
          <a:ln xmlns:a="http://schemas.openxmlformats.org/drawingml/2006/main" w="9525">
            <a:solidFill>
              <a:srgbClr val="8CDE72"/>
            </a:solidFill>
            <a:prstDash val="solid"/>
          </a:ln>
        </p:spPr>
      </p:sp>
      <p:sp>
        <p:nvSpPr>
          <p:cNvPr id="13" name="final-factorization">
            <a:extLst xmlns:a="http://schemas.openxmlformats.org/drawingml/2006/main">
              <a:ext uri="{FF2B5EF4-FFF2-40B4-BE49-F238E27FC236}">
                <a16:creationId xmlns:a16="http://schemas.microsoft.com/office/drawing/2014/main" id="{DF1B3DED-4DF7-427F-8BDE-C5B2139C2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438650"/>
            <a:ext cx="6324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5250" b="1">
                <a:solidFill>
                  <a:srgbClr val="8CDE72"/>
                </a:solidFill>
                <a:latin typeface="Courier New"/>
                <a:ea typeface="Courier New"/>
                <a:cs typeface="Courier New"/>
              </a:defRPr>
            </a:pPr>
            <a:r>
              <a:rPr sz="5250" b="1">
                <a:solidFill>
                  <a:srgbClr val="8CDE72"/>
                </a:solidFill>
                <a:latin typeface="Courier New"/>
                <a:ea typeface="Courier New"/>
                <a:cs typeface="Courier New"/>
              </a:rPr>
              <a:t>15 = 3 × 5</a:t>
            </a:r>
          </a:p>
        </p:txBody>
      </p:sp>
      <p:sp>
        <p:nvSpPr>
          <p:cNvPr id="14" name="result-takeaway">
            <a:extLst xmlns:a="http://schemas.openxmlformats.org/drawingml/2006/main">
              <a:ext uri="{FF2B5EF4-FFF2-40B4-BE49-F238E27FC236}">
                <a16:creationId xmlns:a16="http://schemas.microsoft.com/office/drawing/2014/main" id="{4D6BA558-18F3-46C0-A52B-BE22ED782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791200"/>
            <a:ext cx="704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0">
                <a:solidFill>
                  <a:srgbClr val="C9D7E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C9D7E7"/>
                </a:solidFill>
                <a:latin typeface="Arial"/>
                <a:ea typeface="Arial"/>
                <a:cs typeface="Arial"/>
              </a:rPr>
              <a:t>The quantum period has become a classical factorization.</a:t>
            </a:r>
          </a:p>
        </p:txBody>
      </p:sp>
      <p:sp>
        <p:nvSpPr>
          <p:cNvPr id="15" name="footer">
            <a:extLst xmlns:a="http://schemas.openxmlformats.org/drawingml/2006/main">
              <a:ext uri="{FF2B5EF4-FFF2-40B4-BE49-F238E27FC236}">
                <a16:creationId xmlns:a16="http://schemas.microsoft.com/office/drawing/2014/main" id="{551F8CF9-1B8A-44C7-8C10-546BFA352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8FA9C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FA9C3"/>
                </a:solidFill>
                <a:latin typeface="Arial"/>
                <a:ea typeface="Arial"/>
                <a:cs typeface="Arial"/>
              </a:rPr>
              <a:t>SHOR'S ALGORITHM · FACTORING N = 15</a:t>
            </a:r>
          </a:p>
        </p:txBody>
      </p:sp>
    </p:spTree>
    <p:extLst>
      <p:ext uri="{BB962C8B-B14F-4D97-AF65-F5344CB8AC3E}">
        <p14:creationId xmlns:p14="http://schemas.microsoft.com/office/powerpoint/2010/main" val="133749053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6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41CAEBD1-BAEB-453F-8B99-F99740309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63A8C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3A8C8"/>
                </a:solidFill>
                <a:latin typeface="Arial"/>
                <a:ea typeface="Arial"/>
                <a:cs typeface="Arial"/>
              </a:rPr>
              <a:t>THE KEY IDEA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5EE6A17-53E5-40C7-BAF1-AEFA37002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8FC"/>
                </a:solidFill>
                <a:latin typeface="Arial"/>
                <a:ea typeface="Arial"/>
                <a:cs typeface="Arial"/>
              </a:rPr>
              <a:t>Quantum finds the period—not the factors.</a:t>
            </a:r>
          </a:p>
        </p:txBody>
      </p:sp>
      <p:sp>
        <p:nvSpPr>
          <p:cNvPr id="3" name="rule-72-153">
            <a:extLst xmlns:a="http://schemas.openxmlformats.org/drawingml/2006/main">
              <a:ext uri="{FF2B5EF4-FFF2-40B4-BE49-F238E27FC236}">
                <a16:creationId xmlns:a16="http://schemas.microsoft.com/office/drawing/2014/main" id="{1DB9BC38-06C4-40EA-8B05-62A3E4DD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573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9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4C126CE-9D9E-4E4D-8471-1E99E9B99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667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8FA9C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FA9C3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closing-quantum-label">
            <a:extLst xmlns:a="http://schemas.openxmlformats.org/drawingml/2006/main">
              <a:ext uri="{FF2B5EF4-FFF2-40B4-BE49-F238E27FC236}">
                <a16:creationId xmlns:a16="http://schemas.microsoft.com/office/drawing/2014/main" id="{7C7B0282-2FED-48E7-B405-D6C6511BC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47D3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7D3D"/>
                </a:solidFill>
                <a:latin typeface="Arial"/>
                <a:ea typeface="Arial"/>
                <a:cs typeface="Arial"/>
              </a:rPr>
              <a:t>QUANTUM</a:t>
            </a:r>
          </a:p>
        </p:txBody>
      </p:sp>
      <p:sp>
        <p:nvSpPr>
          <p:cNvPr id="6" name="closing-quantum">
            <a:extLst xmlns:a="http://schemas.openxmlformats.org/drawingml/2006/main">
              <a:ext uri="{FF2B5EF4-FFF2-40B4-BE49-F238E27FC236}">
                <a16:creationId xmlns:a16="http://schemas.microsoft.com/office/drawing/2014/main" id="{B7AF9096-74CA-41A0-96DC-49AD1F32F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4286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625" b="1">
                <a:solidFill>
                  <a:srgbClr val="F4F8FC"/>
                </a:solidFill>
                <a:latin typeface="Courier New"/>
                <a:ea typeface="Courier New"/>
                <a:cs typeface="Courier New"/>
              </a:defRPr>
            </a:pPr>
            <a:r>
              <a:rPr sz="2625" b="1">
                <a:solidFill>
                  <a:srgbClr val="F4F8FC"/>
                </a:solidFill>
                <a:latin typeface="Courier New"/>
                <a:ea typeface="Courier New"/>
                <a:cs typeface="Courier New"/>
              </a:rPr>
              <a:t>Find r for aˣ mod N</a:t>
            </a:r>
          </a:p>
        </p:txBody>
      </p:sp>
      <p:sp>
        <p:nvSpPr>
          <p:cNvPr id="7" name="closing-classical-label">
            <a:extLst xmlns:a="http://schemas.openxmlformats.org/drawingml/2006/main">
              <a:ext uri="{FF2B5EF4-FFF2-40B4-BE49-F238E27FC236}">
                <a16:creationId xmlns:a16="http://schemas.microsoft.com/office/drawing/2014/main" id="{674B770F-C83D-4302-8AA4-B38D849F7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8CDE7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8CDE72"/>
                </a:solidFill>
                <a:latin typeface="Arial"/>
                <a:ea typeface="Arial"/>
                <a:cs typeface="Arial"/>
              </a:rPr>
              <a:t>CLASSICAL</a:t>
            </a:r>
          </a:p>
        </p:txBody>
      </p:sp>
      <p:sp>
        <p:nvSpPr>
          <p:cNvPr id="8" name="closing-classical">
            <a:extLst xmlns:a="http://schemas.openxmlformats.org/drawingml/2006/main">
              <a:ext uri="{FF2B5EF4-FFF2-40B4-BE49-F238E27FC236}">
                <a16:creationId xmlns:a16="http://schemas.microsoft.com/office/drawing/2014/main" id="{E5FDD131-A73F-4F5F-A3BA-4709492D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4762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>
                <a:solidFill>
                  <a:srgbClr val="F4F8FC"/>
                </a:solidFill>
                <a:latin typeface="Courier New"/>
                <a:ea typeface="Courier New"/>
                <a:cs typeface="Courier New"/>
              </a:defRPr>
            </a:pPr>
            <a:r>
              <a:rPr sz="2325" b="1">
                <a:solidFill>
                  <a:srgbClr val="F4F8FC"/>
                </a:solidFill>
                <a:latin typeface="Courier New"/>
                <a:ea typeface="Courier New"/>
                <a:cs typeface="Courier New"/>
              </a:rPr>
              <a:t>Use gcd to extract factors</a:t>
            </a:r>
          </a:p>
        </p:txBody>
      </p:sp>
      <p:sp>
        <p:nvSpPr>
          <p:cNvPr id="9" name="closing-result">
            <a:extLst xmlns:a="http://schemas.openxmlformats.org/drawingml/2006/main">
              <a:ext uri="{FF2B5EF4-FFF2-40B4-BE49-F238E27FC236}">
                <a16:creationId xmlns:a16="http://schemas.microsoft.com/office/drawing/2014/main" id="{1A91BE4F-BEA3-4166-B4D4-46D4FE94C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428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375" b="1">
                <a:solidFill>
                  <a:srgbClr val="8CDE72"/>
                </a:solidFill>
                <a:latin typeface="Courier New"/>
                <a:ea typeface="Courier New"/>
                <a:cs typeface="Courier New"/>
              </a:defRPr>
            </a:pPr>
            <a:r>
              <a:rPr sz="3375" b="1">
                <a:solidFill>
                  <a:srgbClr val="8CDE72"/>
                </a:solidFill>
                <a:latin typeface="Courier New"/>
                <a:ea typeface="Courier New"/>
                <a:cs typeface="Courier New"/>
              </a:rPr>
              <a:t>15 = 3 × 5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83b5e027a34035"/>
          <a:srcRect xmlns:a="http://schemas.openxmlformats.org/drawingml/2006/main" l="0" t="3776" r="0" b="37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715000" y="1809750"/>
            <a:ext cx="5791200" cy="3676650"/>
          </a:xfrm>
          <a:prstGeom xmlns:a="http://schemas.openxmlformats.org/drawingml/2006/main" prst="roundRect">
            <a:avLst/>
          </a:prstGeom>
        </p:spPr>
      </p:pic>
      <p:sp>
        <p:nvSpPr>
          <p:cNvPr id="11" name="demo-link">
            <a:extLst xmlns:a="http://schemas.openxmlformats.org/drawingml/2006/main">
              <a:ext uri="{FF2B5EF4-FFF2-40B4-BE49-F238E27FC236}">
                <a16:creationId xmlns:a16="http://schemas.microsoft.com/office/drawing/2014/main" id="{DC9F10CC-1528-4980-84D3-C644D7C4C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791200"/>
            <a:ext cx="449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51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0">
                <a:solidFill>
                  <a:srgbClr val="8CDE72"/>
                </a:solidFill>
                <a:latin typeface="Arial"/>
                <a:ea typeface="Arial"/>
                <a:cs typeface="Arial"/>
              </a:defRPr>
            </a:pPr>
            <a:r>
              <a:rPr sz="1725" b="1" u="sng">
                <a:solidFill>
                  <a:srgbClr val="8CDE72"/>
                </a:solidFill>
                <a:latin typeface="Arial"/>
                <a:ea typeface="Arial"/>
                <a:cs typeface="Arial"/>
                <a:hlinkClick xmlns:r="http://schemas.openxmlformats.org/officeDocument/2006/relationships" r:id="R9cb5b5653384407f"/>
              </a:rPr>
              <a:t>Continue with the interactive walkthrough  →</a:t>
            </a:r>
          </a:p>
        </p:txBody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B31E2E9C-EA16-49EF-950A-3FB5A7010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8FA9C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FA9C3"/>
                </a:solidFill>
                <a:latin typeface="Arial"/>
                <a:ea typeface="Arial"/>
                <a:cs typeface="Arial"/>
              </a:rPr>
              <a:t>SHOR'S ALGORITHM · OPEN THE LIVE WALKTHROUGH</a:t>
            </a:r>
          </a:p>
        </p:txBody>
      </p:sp>
    </p:spTree>
    <p:extLst>
      <p:ext uri="{BB962C8B-B14F-4D97-AF65-F5344CB8AC3E}">
        <p14:creationId xmlns:p14="http://schemas.microsoft.com/office/powerpoint/2010/main" val="16073601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2026-07-30T05:53:30.7620000Z</dcterms:created>
  <dcterms:modified xsi:type="dcterms:W3CDTF">2026-07-30T05:53:30.7630000Z</dcterms:modified>
</coreProperties>
</file>